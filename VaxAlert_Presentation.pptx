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9"/>
  </p:handoutMasterIdLst>
  <p:sldIdLst>
    <p:sldId id="256" r:id="rId3"/>
    <p:sldId id="257" r:id="rId5"/>
    <p:sldId id="258" r:id="rId6"/>
    <p:sldId id="259" r:id="rId7"/>
    <p:sldId id="260" r:id="rId8"/>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6" userDrawn="1">
          <p15:clr>
            <a:srgbClr val="A4A3A4"/>
          </p15:clr>
        </p15:guide>
        <p15:guide id="2" pos="28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76"/>
        <p:guide pos="287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handoutMaster" Target="handoutMasters/handout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SCRIPT — SLIDE 1: COVER</a:t>
            </a:r>
          </a:p>
          <a:p/>
          <a:p>
            <a:r>
              <a:t>Good [morning / afternoon]. We are Team VaxAlert.</a:t>
            </a:r>
          </a:p>
          <a:p/>
          <a:p>
            <a:r>
              <a:t>Our project tackles one of the most preventable failures in child health: a nurse is ready to vaccinate a child, the child has shown up, the parent has walked hours to get there — but the vaccine is simply not on the shelf.</a:t>
            </a:r>
          </a:p>
          <a:p/>
          <a:p>
            <a:r>
              <a:t>Over the next 10 minutes we will show you how machine learning, applied to Ethiopia's vaccine supply chain, can predict these stockouts up to 8 weeks in advance — and tell health workers exactly how much to order, and when, before the crisis hits.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SCRIPT — SLIDE 2: PROBLEM STATEMENT</a:t>
            </a:r>
          </a:p>
          <a:p/>
          <a:p>
            <a:r>
              <a:t>Let's ground this in evidence from five published studies.</a:t>
            </a:r>
          </a:p>
          <a:p/>
          <a:p>
            <a:r>
              <a:t>Endehabtu and colleagues, studying immunization supply management in Oromia Region, found that barely 43% of children complete their full immunization schedule. That means more than half of Ethiopian children are not fully protected — despite vaccines existing in the national cold chain.</a:t>
            </a:r>
          </a:p>
          <a:p/>
          <a:p>
            <a:r>
              <a:t>Prosser et al., publishing in 2026 from a Mozambique study with direct applicability to Sub-Saharan Africa, found that 62% of missed vaccinations are directly caused by facility-level stockouts. Not vaccine hesitancy. Not access. Just an empty shelf. And inadequate forecasting is responsible for 18% of those stockouts on its own.</a:t>
            </a:r>
          </a:p>
          <a:p/>
          <a:p>
            <a:r>
              <a:t>In Ethiopia specifically, Gebremedhin's 2024 phenomenological study of the Last Mile Delivery Initiative found health workers describing 'artificial shortages due to ill forecasting and failure to request needs on time.' The structural problem is that Health Posts physically travel to Health Centers to collect vaccines — so when the HC is out, every satellite HP it serves goes out too. That is a cascade failure. Bilal et al. confirm that manual forecasting processes, compounded by finance constraints and staff turnover, make this nearly impossible to fix without automation.</a:t>
            </a:r>
          </a:p>
          <a:p/>
          <a:p>
            <a:r>
              <a:t>We built VaxAlert to be that automation.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SCRIPT — SLIDE 3: PROPOSED SOLUTION</a:t>
            </a:r>
          </a:p>
          <a:p/>
          <a:p>
            <a:r>
              <a:t>VaxAlert is built around four layers.</a:t>
            </a:r>
          </a:p>
          <a:p/>
          <a:p>
            <a:r>
              <a:t>Layer one: the forecast engine. For every combination of facility and antigen — 350 time series in our simulation — we generate 8-week ahead stock level forecasts using five different models and a constrained optimizer that learns the best blend weights from validation data.</a:t>
            </a:r>
          </a:p>
          <a:p/>
          <a:p>
            <a:r>
              <a:t>Layer two: the alert engine. We convert those stock-level forecasts into a Critical, Warning, or OK status. The threshold is not arbitrary — it is calibrated to each facility's actual lead time plus a tier-specific safety buffer. A pastoral health post with a 14-day lead time gets a much wider buffer than an urban clinic that receives weekly deliveries.</a:t>
            </a:r>
          </a:p>
          <a:p/>
          <a:p>
            <a:r>
              <a:t>Layer three — and this is what makes VaxAlert unique — cascade detection. Health Posts in Ethiopia physically collect vaccines from their supervising Health Center. VaxAlert maps that entire HC-to-HP network, so when a Health Center starts showing warning signs, the downstream Health Posts are flagged immediately, even before their own stock has dropped.</a:t>
            </a:r>
          </a:p>
          <a:p/>
          <a:p>
            <a:r>
              <a:t>Layer four: restock suggestions. For every alert, VaxAlert calculates exactly how many doses to order right now — factoring in lead time, projected stock at delivery, and a safety buffer — rounded up to full vials so there is no ambiguity for the health worker.</a:t>
            </a:r>
          </a:p>
          <a:p/>
          <a:p>
            <a:r>
              <a:t>The whole system is wrapped in a four-view Streamlit dashboard: National Overview, Facility Drill-Down, Cascade View, and Model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SCRIPT — SLIDE 4: DATASET &amp; AI MODEL</a:t>
            </a:r>
          </a:p>
          <a:p/>
          <a:p>
            <a:r>
              <a:t>Our dataset is a 7-year synthetic simulation of 50 Ethiopian health facilities across all access tiers — urban, rural road, rural remote, and pastoral — tracking 7 antigens for 364 weeks. That gives us 127,400 weekly stock records and 350 independent time series.</a:t>
            </a:r>
          </a:p>
          <a:p/>
          <a:p>
            <a:r>
              <a:t>The data is synthetic for privacy and reproducibility reasons — we do not have direct DHIS2 access — but it is rigorously calibrated. Stockout rates by tier match the ranges published in Gebremedhin 2024 and SARA 2018. Shock events — the COVID pandemic, the Tigray conflict, the Amhara escalation — are placed at historically realistic weeks. Birth seasonality, rainy season demand dips, measles SIA campaigns, and polio SNIDs are all explicitly modelled.</a:t>
            </a:r>
          </a:p>
          <a:p/>
          <a:p>
            <a:r>
              <a:t>For the AI architecture: we run five independent forecasting models on each series. Prophet handles named events and seasonal patterns. Holt-Winters provides robust exponential smoothing. Two naive baselines act as floors. XGBoost captures nonlinear shock interactions.</a:t>
            </a:r>
          </a:p>
          <a:p/>
          <a:p>
            <a:r>
              <a:t>Then a</a:t>
            </a:r>
            <a:r>
              <a:rPr lang="en-US"/>
              <a:t>n ensemble model</a:t>
            </a:r>
            <a:r>
              <a:t> — trained on out-of-fold validation data — learns the optimal blend. </a:t>
            </a:r>
          </a:p>
          <a:p/>
          <a:p>
            <a:r>
              <a:t>The final ensemble achieves a Mean Absolute Error of 1</a:t>
            </a:r>
            <a:r>
              <a:rPr lang="en-US"/>
              <a:t>1.65</a:t>
            </a:r>
            <a:r>
              <a:t> doses per week and detects 51% of real stockouts at least one week before they occur — enough lead time for emergency resupply in the majority of facility tiers.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SCRIPT — SLIDE 5: IMPACT</a:t>
            </a:r>
          </a:p>
          <a:p/>
          <a:p>
            <a:r>
              <a:t>What does this mean for children in practice?</a:t>
            </a:r>
          </a:p>
          <a:p/>
          <a:p>
            <a:r>
              <a:t>Our simulation covers 50 facilities over 7 years. The ensemble correctly detects 51% of real stockouts at least one week before they happen. When we apply that as a counterfactual — asking what would happen if a supply chain officer acted on every Critical alert within the available lead time — the baseline stockout rate drops from 14.6% to approximately </a:t>
            </a:r>
            <a:r>
              <a:rPr lang="en-US"/>
              <a:t>6.9</a:t>
            </a:r>
            <a:r>
              <a:t>%. That is a </a:t>
            </a:r>
            <a:r>
              <a:rPr lang="en-US"/>
              <a:t>51</a:t>
            </a:r>
            <a:r>
              <a:t>% relative reduction.</a:t>
            </a:r>
          </a:p>
          <a:p/>
          <a:p>
            <a:r>
              <a:t>Scaling to Ethiopia's </a:t>
            </a:r>
            <a:r>
              <a:rPr lang="en-US"/>
              <a:t>21,799</a:t>
            </a:r>
            <a:r>
              <a:t> public EPI facilities — a number we verified directly from </a:t>
            </a:r>
            <a:r>
              <a:rPr lang="en-US"/>
              <a:t>2020 MoH fact sheet</a:t>
            </a:r>
            <a:r>
              <a:t>, counting only public, approved, government-operated health posts, health centers, and hospitals — that translates to approximately </a:t>
            </a:r>
            <a:r>
              <a:rPr lang="en-US"/>
              <a:t>AROUND 2</a:t>
            </a:r>
            <a:r>
              <a:t> million additional children vaccinated per year who currently miss out because of empty shelves.</a:t>
            </a:r>
          </a:p>
          <a:p/>
          <a:p>
            <a:r>
              <a:t>The bar chart behind me shows how that improvement breaks down by access tier. Pastoral facilities see the largest absolute reduction, because they have the highest baseline stockout rates and the earliest warning lead times — the model can see the stock falling over a longer runway.</a:t>
            </a:r>
          </a:p>
          <a:p/>
          <a:p>
            <a:r>
              <a:t>We want to be transparent about the assumptions. This projection requires health officers to act on alerts, and our detection rate was measured on synthetic data. Real-world performance will depend on DHIS2 data quality and operational discipline. But the underlying evidence — Prosser et al. showing 18% of stockouts are pure forecasting failures, Bilal et al. documenting the manual forecasting crisis, Endehabtu's finding that only 43% of children are fully vaccinated — tells us the opportunity is real and large.</a:t>
            </a:r>
          </a:p>
          <a:p/>
          <a:p>
            <a:r>
              <a:t>VaxAlert does not require new vaccines, new cold chain infrastructure, or new staff. It turns data you already collect into decisions you can make before the crisis hits.</a:t>
            </a:r>
          </a:p>
          <a:p/>
          <a:p>
            <a:r>
              <a:t>Thank you. We are happy to walk through the live dashboard now.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88952" cy="5486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64008" cy="68580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2587752" cy="6858000"/>
          </a:xfrm>
          <a:prstGeom prst="rect">
            <a:avLst/>
          </a:prstGeom>
          <a:solidFill>
            <a:srgbClr val="2161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14400"/>
            <a:ext cx="9144000" cy="1371600"/>
          </a:xfrm>
          <a:prstGeom prst="rect">
            <a:avLst/>
          </a:prstGeom>
          <a:noFill/>
        </p:spPr>
        <p:txBody>
          <a:bodyPr wrap="square">
            <a:spAutoFit/>
          </a:bodyPr>
          <a:lstStyle/>
          <a:p>
            <a:pPr algn="l"/>
            <a:r>
              <a:rPr sz="6400" b="1" i="0">
                <a:solidFill>
                  <a:srgbClr val="FFFFFF"/>
                </a:solidFill>
                <a:latin typeface="Calibri" panose="020F0502020204030204"/>
              </a:rPr>
              <a:t>VaxAlert</a:t>
            </a:r>
            <a:endParaRPr sz="6400" b="1" i="0">
              <a:solidFill>
                <a:srgbClr val="FFFFFF"/>
              </a:solidFill>
              <a:latin typeface="Calibri" panose="020F0502020204030204"/>
            </a:endParaRPr>
          </a:p>
        </p:txBody>
      </p:sp>
      <p:sp>
        <p:nvSpPr>
          <p:cNvPr id="7" name="TextBox 6"/>
          <p:cNvSpPr txBox="1"/>
          <p:nvPr/>
        </p:nvSpPr>
        <p:spPr>
          <a:xfrm>
            <a:off x="365760" y="2194560"/>
            <a:ext cx="8961120" cy="640080"/>
          </a:xfrm>
          <a:prstGeom prst="rect">
            <a:avLst/>
          </a:prstGeom>
          <a:noFill/>
        </p:spPr>
        <p:txBody>
          <a:bodyPr wrap="square">
            <a:spAutoFit/>
          </a:bodyPr>
          <a:lstStyle/>
          <a:p>
            <a:pPr algn="l"/>
            <a:r>
              <a:rPr sz="2400" b="0" i="0">
                <a:solidFill>
                  <a:srgbClr val="FFFF00"/>
                </a:solidFill>
                <a:latin typeface="Calibri" panose="020F0502020204030204"/>
              </a:rPr>
              <a:t>AI-Powered Vaccine Stockout Forecasting for Ethiopia</a:t>
            </a:r>
            <a:endParaRPr sz="2400" b="0" i="0">
              <a:solidFill>
                <a:srgbClr val="FFFF00"/>
              </a:solidFill>
              <a:latin typeface="Calibri" panose="020F0502020204030204"/>
            </a:endParaRPr>
          </a:p>
        </p:txBody>
      </p:sp>
      <p:sp>
        <p:nvSpPr>
          <p:cNvPr id="8" name="TextBox 7"/>
          <p:cNvSpPr txBox="1"/>
          <p:nvPr/>
        </p:nvSpPr>
        <p:spPr>
          <a:xfrm>
            <a:off x="365760" y="2926080"/>
            <a:ext cx="8778240" cy="321945"/>
          </a:xfrm>
          <a:prstGeom prst="rect">
            <a:avLst/>
          </a:prstGeom>
          <a:noFill/>
        </p:spPr>
        <p:txBody>
          <a:bodyPr wrap="square">
            <a:spAutoFit/>
          </a:bodyPr>
          <a:lstStyle/>
          <a:p>
            <a:pPr algn="l"/>
            <a:r>
              <a:rPr sz="1500" b="0" i="1">
                <a:solidFill>
                  <a:srgbClr val="AAC9E8"/>
                </a:solidFill>
                <a:latin typeface="Calibri" panose="020F0502020204030204"/>
              </a:rPr>
              <a:t>Predicting stockouts before they happen </a:t>
            </a:r>
            <a:r>
              <a:rPr lang="en-US" sz="1500" b="0" i="1">
                <a:solidFill>
                  <a:srgbClr val="AAC9E8"/>
                </a:solidFill>
                <a:latin typeface="Calibri" panose="020F0502020204030204"/>
              </a:rPr>
              <a:t>,</a:t>
            </a:r>
            <a:r>
              <a:rPr sz="1500" b="0" i="1">
                <a:solidFill>
                  <a:srgbClr val="AAC9E8"/>
                </a:solidFill>
                <a:latin typeface="Calibri" panose="020F0502020204030204"/>
              </a:rPr>
              <a:t> so no child is turned away</a:t>
            </a:r>
            <a:endParaRPr sz="1500" b="0" i="1">
              <a:solidFill>
                <a:srgbClr val="AAC9E8"/>
              </a:solidFill>
              <a:latin typeface="Calibri" panose="020F0502020204030204"/>
            </a:endParaRPr>
          </a:p>
        </p:txBody>
      </p:sp>
      <p:sp>
        <p:nvSpPr>
          <p:cNvPr id="9" name="TextBox 8"/>
          <p:cNvSpPr txBox="1"/>
          <p:nvPr/>
        </p:nvSpPr>
        <p:spPr>
          <a:xfrm>
            <a:off x="365760" y="3794760"/>
            <a:ext cx="8778240" cy="306705"/>
          </a:xfrm>
          <a:prstGeom prst="rect">
            <a:avLst/>
          </a:prstGeom>
          <a:noFill/>
        </p:spPr>
        <p:txBody>
          <a:bodyPr wrap="square">
            <a:spAutoFit/>
          </a:bodyPr>
          <a:lstStyle/>
          <a:p>
            <a:pPr algn="l"/>
            <a:r>
              <a:rPr lang="en-US" sz="1400" b="0" i="0">
                <a:solidFill>
                  <a:srgbClr val="FFFFFF"/>
                </a:solidFill>
                <a:latin typeface="Calibri" panose="020F0502020204030204"/>
              </a:rPr>
              <a:t>Dr. Daniel Gizaw</a:t>
            </a:r>
            <a:r>
              <a:rPr sz="1400" b="0" i="0">
                <a:solidFill>
                  <a:srgbClr val="FFFFFF"/>
                </a:solidFill>
                <a:latin typeface="Calibri" panose="020F0502020204030204"/>
              </a:rPr>
              <a:t>  |  </a:t>
            </a:r>
            <a:r>
              <a:rPr lang="en-US" sz="1400" b="0" i="0">
                <a:solidFill>
                  <a:srgbClr val="FFFFFF"/>
                </a:solidFill>
                <a:latin typeface="Calibri" panose="020F0502020204030204"/>
              </a:rPr>
              <a:t>Dagmawi Teferi</a:t>
            </a:r>
            <a:r>
              <a:rPr sz="1400" b="0" i="0">
                <a:solidFill>
                  <a:srgbClr val="FFFFFF"/>
                </a:solidFill>
                <a:latin typeface="Calibri" panose="020F0502020204030204"/>
              </a:rPr>
              <a:t>   |   </a:t>
            </a:r>
            <a:r>
              <a:rPr lang="en-US" sz="1400" b="0" i="0">
                <a:solidFill>
                  <a:srgbClr val="FFFFFF"/>
                </a:solidFill>
                <a:latin typeface="Calibri" panose="020F0502020204030204"/>
              </a:rPr>
              <a:t>Dr. Nicodmos Zegeye</a:t>
            </a:r>
            <a:r>
              <a:rPr sz="1400" b="0" i="0">
                <a:solidFill>
                  <a:srgbClr val="FFFFFF"/>
                </a:solidFill>
                <a:latin typeface="Calibri" panose="020F0502020204030204"/>
              </a:rPr>
              <a:t>   |   </a:t>
            </a:r>
            <a:r>
              <a:rPr lang="en-US" sz="1400" b="0" i="0">
                <a:solidFill>
                  <a:srgbClr val="FFFFFF"/>
                </a:solidFill>
                <a:latin typeface="Calibri" panose="020F0502020204030204"/>
              </a:rPr>
              <a:t>Dr. Zeamanuel Hailu</a:t>
            </a:r>
            <a:endParaRPr lang="en-US" sz="1400" b="0" i="0">
              <a:solidFill>
                <a:srgbClr val="FFFFFF"/>
              </a:solidFill>
              <a:latin typeface="Calibri" panose="020F0502020204030204"/>
            </a:endParaRPr>
          </a:p>
        </p:txBody>
      </p:sp>
      <p:sp>
        <p:nvSpPr>
          <p:cNvPr id="11" name="TextBox 10"/>
          <p:cNvSpPr txBox="1"/>
          <p:nvPr/>
        </p:nvSpPr>
        <p:spPr>
          <a:xfrm>
            <a:off x="9692640" y="3108960"/>
            <a:ext cx="2286000" cy="583565"/>
          </a:xfrm>
          <a:prstGeom prst="rect">
            <a:avLst/>
          </a:prstGeom>
          <a:noFill/>
        </p:spPr>
        <p:txBody>
          <a:bodyPr wrap="square">
            <a:spAutoFit/>
          </a:bodyPr>
          <a:lstStyle/>
          <a:p>
            <a:pPr algn="ctr"/>
            <a:r>
              <a:rPr sz="1600" b="0" i="0">
                <a:solidFill>
                  <a:srgbClr val="AAC9E8"/>
                </a:solidFill>
                <a:latin typeface="Calibri" panose="020F0502020204030204"/>
              </a:rPr>
              <a:t>Ethiopia EPI
Supply</a:t>
            </a:r>
            <a:r>
              <a:rPr lang="en-US" sz="1600" b="0" i="0">
                <a:solidFill>
                  <a:srgbClr val="AAC9E8"/>
                </a:solidFill>
                <a:latin typeface="Calibri" panose="020F0502020204030204"/>
              </a:rPr>
              <a:t> Alert</a:t>
            </a:r>
            <a:r>
              <a:rPr sz="1600" b="0" i="0">
                <a:solidFill>
                  <a:srgbClr val="AAC9E8"/>
                </a:solidFill>
                <a:latin typeface="Calibri" panose="020F0502020204030204"/>
              </a:rPr>
              <a:t> Intelligence</a:t>
            </a:r>
            <a:endParaRPr sz="1600" b="0" i="0">
              <a:solidFill>
                <a:srgbClr val="AAC9E8"/>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10515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Rectangle 2"/>
          <p:cNvSpPr/>
          <p:nvPr/>
        </p:nvSpPr>
        <p:spPr>
          <a:xfrm>
            <a:off x="0" y="0"/>
            <a:ext cx="64008" cy="10515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201168" y="164592"/>
            <a:ext cx="11823192" cy="645160"/>
          </a:xfrm>
          <a:prstGeom prst="rect">
            <a:avLst/>
          </a:prstGeom>
          <a:noFill/>
        </p:spPr>
        <p:txBody>
          <a:bodyPr wrap="square">
            <a:spAutoFit/>
          </a:bodyPr>
          <a:lstStyle/>
          <a:p>
            <a:pPr algn="l"/>
            <a:r>
              <a:rPr sz="3600" b="1" i="0">
                <a:solidFill>
                  <a:srgbClr val="FFFFFF"/>
                </a:solidFill>
                <a:latin typeface="Calibri" panose="020F0502020204030204"/>
              </a:rPr>
              <a:t>The Problem: Vaccines Exist. Children Still Miss Them.</a:t>
            </a:r>
            <a:endParaRPr sz="3600" b="1" i="0">
              <a:solidFill>
                <a:srgbClr val="FFFFFF"/>
              </a:solidFill>
              <a:latin typeface="Calibri" panose="020F0502020204030204"/>
            </a:endParaRPr>
          </a:p>
        </p:txBody>
      </p:sp>
      <p:sp>
        <p:nvSpPr>
          <p:cNvPr id="5" name="Rectangle 4"/>
          <p:cNvSpPr/>
          <p:nvPr/>
        </p:nvSpPr>
        <p:spPr>
          <a:xfrm>
            <a:off x="0" y="6565392"/>
            <a:ext cx="12188952" cy="2926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182880" y="6601968"/>
            <a:ext cx="11823192" cy="275590"/>
          </a:xfrm>
          <a:prstGeom prst="rect">
            <a:avLst/>
          </a:prstGeom>
          <a:noFill/>
        </p:spPr>
        <p:txBody>
          <a:bodyPr wrap="square">
            <a:spAutoFit/>
          </a:bodyPr>
          <a:lstStyle/>
          <a:p>
            <a:pPr algn="l"/>
            <a:r>
              <a:rPr sz="1200" b="0" i="0">
                <a:solidFill>
                  <a:srgbClr val="FFFFFF"/>
                </a:solidFill>
                <a:latin typeface="Calibri" panose="020F0502020204030204"/>
              </a:rPr>
              <a:t>VaxAlert  |  2026</a:t>
            </a:r>
            <a:endParaRPr sz="1200" b="0" i="0">
              <a:solidFill>
                <a:srgbClr val="FFFFFF"/>
              </a:solidFill>
              <a:latin typeface="Calibri" panose="020F0502020204030204"/>
            </a:endParaRPr>
          </a:p>
        </p:txBody>
      </p:sp>
      <p:sp>
        <p:nvSpPr>
          <p:cNvPr id="7" name="Rectangle 6"/>
          <p:cNvSpPr/>
          <p:nvPr/>
        </p:nvSpPr>
        <p:spPr>
          <a:xfrm>
            <a:off x="0" y="1051560"/>
            <a:ext cx="64008" cy="5513831"/>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85598" y="1062355"/>
            <a:ext cx="12124944" cy="55138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217805" y="1140460"/>
            <a:ext cx="7273925" cy="4472305"/>
          </a:xfrm>
          <a:prstGeom prst="rect">
            <a:avLst/>
          </a:prstGeom>
          <a:noFill/>
        </p:spPr>
        <p:txBody>
          <a:bodyPr wrap="square">
            <a:noAutofit/>
          </a:bodyPr>
          <a:lstStyle/>
          <a:p>
            <a:pPr algn="l">
              <a:spcAft>
                <a:spcPts val="200"/>
              </a:spcAft>
            </a:pPr>
            <a:r>
              <a:rPr sz="1600" b="0" i="0">
                <a:solidFill>
                  <a:srgbClr val="17202A"/>
                </a:solidFill>
                <a:latin typeface="Calibri" panose="020F0502020204030204"/>
              </a:rPr>
              <a:t>Only </a:t>
            </a:r>
            <a:r>
              <a:rPr sz="1600" b="1" i="0">
                <a:solidFill>
                  <a:srgbClr val="17202A"/>
                </a:solidFill>
                <a:latin typeface="Calibri" panose="020F0502020204030204"/>
              </a:rPr>
              <a:t>43%</a:t>
            </a:r>
            <a:r>
              <a:rPr sz="1600" b="0" i="0">
                <a:solidFill>
                  <a:srgbClr val="17202A"/>
                </a:solidFill>
                <a:latin typeface="Calibri" panose="020F0502020204030204"/>
              </a:rPr>
              <a:t> of Ethiopian children are fully vaccinated</a:t>
            </a:r>
            <a:endParaRPr sz="1600" b="0" i="0">
              <a:solidFill>
                <a:srgbClr val="17202A"/>
              </a:solidFill>
              <a:latin typeface="Calibri" panose="020F0502020204030204"/>
            </a:endParaRPr>
          </a:p>
          <a:p>
            <a:pPr algn="l">
              <a:spcAft>
                <a:spcPts val="700"/>
              </a:spcAft>
            </a:pPr>
            <a:r>
              <a:rPr sz="1400" b="0" i="1">
                <a:solidFill>
                  <a:srgbClr val="717D7E"/>
                </a:solidFill>
                <a:latin typeface="Calibri" panose="020F0502020204030204"/>
              </a:rPr>
              <a:t>  Endehabtu et al. — Oromia Immunization Supply Management, 2024</a:t>
            </a:r>
            <a:endParaRPr sz="1400" b="0" i="1">
              <a:solidFill>
                <a:srgbClr val="717D7E"/>
              </a:solidFill>
              <a:latin typeface="Calibri" panose="020F0502020204030204"/>
            </a:endParaRPr>
          </a:p>
          <a:p>
            <a:pPr algn="l">
              <a:spcAft>
                <a:spcPts val="200"/>
              </a:spcAft>
            </a:pPr>
            <a:r>
              <a:rPr sz="1600" b="1" i="0">
                <a:solidFill>
                  <a:srgbClr val="17202A"/>
                </a:solidFill>
                <a:latin typeface="Calibri" panose="020F0502020204030204"/>
              </a:rPr>
              <a:t>50%</a:t>
            </a:r>
            <a:r>
              <a:rPr sz="1600" b="0" i="0">
                <a:solidFill>
                  <a:srgbClr val="17202A"/>
                </a:solidFill>
                <a:latin typeface="Calibri" panose="020F0502020204030204"/>
              </a:rPr>
              <a:t> of African countries report stockouts of at least one vaccine</a:t>
            </a:r>
            <a:r>
              <a:rPr lang="en-US" sz="1600" b="0" i="0">
                <a:solidFill>
                  <a:srgbClr val="17202A"/>
                </a:solidFill>
                <a:latin typeface="Calibri" panose="020F0502020204030204"/>
              </a:rPr>
              <a:t> for atleast 1 month</a:t>
            </a:r>
            <a:endParaRPr sz="1600" b="0" i="0">
              <a:solidFill>
                <a:srgbClr val="17202A"/>
              </a:solidFill>
              <a:latin typeface="Calibri" panose="020F0502020204030204"/>
            </a:endParaRPr>
          </a:p>
          <a:p>
            <a:pPr algn="l">
              <a:spcAft>
                <a:spcPts val="700"/>
              </a:spcAft>
            </a:pPr>
            <a:r>
              <a:rPr sz="1400" b="0" i="1">
                <a:solidFill>
                  <a:srgbClr val="717D7E"/>
                </a:solidFill>
                <a:latin typeface="Calibri" panose="020F0502020204030204"/>
              </a:rPr>
              <a:t>  Prosser et al. — Vaccine Forecasting in Mozambique, 2026</a:t>
            </a:r>
            <a:endParaRPr sz="1400" b="0" i="1">
              <a:solidFill>
                <a:srgbClr val="717D7E"/>
              </a:solidFill>
              <a:latin typeface="Calibri" panose="020F0502020204030204"/>
            </a:endParaRPr>
          </a:p>
          <a:p>
            <a:pPr algn="l">
              <a:spcAft>
                <a:spcPts val="200"/>
              </a:spcAft>
            </a:pPr>
            <a:r>
              <a:rPr sz="1600" b="1" i="0">
                <a:solidFill>
                  <a:srgbClr val="17202A"/>
                </a:solidFill>
                <a:latin typeface="Calibri" panose="020F0502020204030204"/>
              </a:rPr>
              <a:t>62%</a:t>
            </a:r>
            <a:r>
              <a:rPr sz="1600" b="0" i="0">
                <a:solidFill>
                  <a:srgbClr val="17202A"/>
                </a:solidFill>
                <a:latin typeface="Calibri" panose="020F0502020204030204"/>
              </a:rPr>
              <a:t> of missed vaccinations trace back to facility-level stockouts</a:t>
            </a:r>
            <a:endParaRPr sz="1600" b="0" i="0">
              <a:solidFill>
                <a:srgbClr val="17202A"/>
              </a:solidFill>
              <a:latin typeface="Calibri" panose="020F0502020204030204"/>
            </a:endParaRPr>
          </a:p>
          <a:p>
            <a:pPr algn="l">
              <a:spcAft>
                <a:spcPts val="700"/>
              </a:spcAft>
            </a:pPr>
            <a:r>
              <a:rPr sz="1400" b="0" i="1">
                <a:solidFill>
                  <a:srgbClr val="717D7E"/>
                </a:solidFill>
                <a:latin typeface="Calibri" panose="020F0502020204030204"/>
              </a:rPr>
              <a:t>  Prosser et al. 2026</a:t>
            </a:r>
            <a:endParaRPr sz="1400" b="0" i="1">
              <a:solidFill>
                <a:srgbClr val="717D7E"/>
              </a:solidFill>
              <a:latin typeface="Calibri" panose="020F0502020204030204"/>
            </a:endParaRPr>
          </a:p>
          <a:p>
            <a:pPr algn="l">
              <a:spcAft>
                <a:spcPts val="200"/>
              </a:spcAft>
            </a:pPr>
            <a:r>
              <a:rPr sz="1600" b="0" i="0">
                <a:solidFill>
                  <a:srgbClr val="17202A"/>
                </a:solidFill>
                <a:latin typeface="Calibri" panose="020F0502020204030204"/>
              </a:rPr>
              <a:t>Inadequate forecasting alone accounts for </a:t>
            </a:r>
            <a:r>
              <a:rPr sz="1600" b="1" i="0">
                <a:solidFill>
                  <a:srgbClr val="17202A"/>
                </a:solidFill>
                <a:latin typeface="Calibri" panose="020F0502020204030204"/>
              </a:rPr>
              <a:t>18%</a:t>
            </a:r>
            <a:r>
              <a:rPr sz="1600" b="0" i="0">
                <a:solidFill>
                  <a:srgbClr val="17202A"/>
                </a:solidFill>
                <a:latin typeface="Calibri" panose="020F0502020204030204"/>
              </a:rPr>
              <a:t> of stockouts</a:t>
            </a:r>
            <a:endParaRPr sz="1600" b="0" i="0">
              <a:solidFill>
                <a:srgbClr val="17202A"/>
              </a:solidFill>
              <a:latin typeface="Calibri" panose="020F0502020204030204"/>
            </a:endParaRPr>
          </a:p>
          <a:p>
            <a:pPr algn="l">
              <a:spcAft>
                <a:spcPts val="700"/>
              </a:spcAft>
            </a:pPr>
            <a:r>
              <a:rPr sz="1400" b="0" i="1">
                <a:solidFill>
                  <a:srgbClr val="717D7E"/>
                </a:solidFill>
                <a:latin typeface="Calibri" panose="020F0502020204030204"/>
              </a:rPr>
              <a:t>  Prosser et al. 2026</a:t>
            </a:r>
            <a:endParaRPr sz="1400" b="0" i="1">
              <a:solidFill>
                <a:srgbClr val="717D7E"/>
              </a:solidFill>
              <a:latin typeface="Calibri" panose="020F0502020204030204"/>
            </a:endParaRPr>
          </a:p>
          <a:p>
            <a:pPr algn="l">
              <a:spcAft>
                <a:spcPts val="200"/>
              </a:spcAft>
            </a:pPr>
            <a:r>
              <a:rPr sz="1600" b="0" i="0">
                <a:solidFill>
                  <a:srgbClr val="17202A"/>
                </a:solidFill>
                <a:latin typeface="Calibri" panose="020F0502020204030204"/>
              </a:rPr>
              <a:t>Health Posts physically collect vaccines from Health Centers — when the HC stockouts, every satellite HP it serves goes out too</a:t>
            </a:r>
            <a:endParaRPr sz="1600" b="0" i="0">
              <a:solidFill>
                <a:srgbClr val="17202A"/>
              </a:solidFill>
              <a:latin typeface="Calibri" panose="020F0502020204030204"/>
            </a:endParaRPr>
          </a:p>
          <a:p>
            <a:pPr algn="l">
              <a:spcAft>
                <a:spcPts val="700"/>
              </a:spcAft>
            </a:pPr>
            <a:r>
              <a:rPr sz="1400" b="0" i="1">
                <a:solidFill>
                  <a:srgbClr val="717D7E"/>
                </a:solidFill>
                <a:latin typeface="Calibri" panose="020F0502020204030204"/>
              </a:rPr>
              <a:t>  Gebremedhin et al. — Ethiopian Last Mile Delivery Initiative, 2024</a:t>
            </a:r>
            <a:endParaRPr sz="1400" b="0" i="1">
              <a:solidFill>
                <a:srgbClr val="717D7E"/>
              </a:solidFill>
              <a:latin typeface="Calibri" panose="020F0502020204030204"/>
            </a:endParaRPr>
          </a:p>
          <a:p>
            <a:pPr algn="l">
              <a:spcAft>
                <a:spcPts val="200"/>
              </a:spcAft>
            </a:pPr>
            <a:r>
              <a:rPr sz="1600" b="0" i="0">
                <a:solidFill>
                  <a:srgbClr val="17202A"/>
                </a:solidFill>
                <a:latin typeface="Calibri" panose="020F0502020204030204"/>
              </a:rPr>
              <a:t>Only </a:t>
            </a:r>
            <a:r>
              <a:rPr sz="1600" b="1" i="0">
                <a:solidFill>
                  <a:srgbClr val="17202A"/>
                </a:solidFill>
                <a:latin typeface="Calibri" panose="020F0502020204030204"/>
              </a:rPr>
              <a:t>28–30%</a:t>
            </a:r>
            <a:r>
              <a:rPr sz="1600" b="0" i="0">
                <a:solidFill>
                  <a:srgbClr val="17202A"/>
                </a:solidFill>
                <a:latin typeface="Calibri" panose="020F0502020204030204"/>
              </a:rPr>
              <a:t> of Ethiopian facilities had all essential vaccines available at time of survey</a:t>
            </a:r>
            <a:endParaRPr sz="1600" b="0" i="0">
              <a:solidFill>
                <a:srgbClr val="17202A"/>
              </a:solidFill>
              <a:latin typeface="Calibri" panose="020F0502020204030204"/>
            </a:endParaRPr>
          </a:p>
          <a:p>
            <a:pPr algn="l">
              <a:spcAft>
                <a:spcPts val="700"/>
              </a:spcAft>
            </a:pPr>
            <a:r>
              <a:rPr sz="1400" b="0" i="1">
                <a:solidFill>
                  <a:srgbClr val="717D7E"/>
                </a:solidFill>
                <a:latin typeface="Calibri" panose="020F0502020204030204"/>
              </a:rPr>
              <a:t>  Gebremedhin et al. 2024 (citing SARA 2018)</a:t>
            </a:r>
            <a:endParaRPr sz="1400" b="0" i="1">
              <a:solidFill>
                <a:srgbClr val="717D7E"/>
              </a:solidFill>
              <a:latin typeface="Calibri" panose="020F0502020204030204"/>
            </a:endParaRPr>
          </a:p>
          <a:p>
            <a:pPr algn="l">
              <a:spcAft>
                <a:spcPts val="200"/>
              </a:spcAft>
            </a:pPr>
            <a:r>
              <a:rPr sz="1600" b="0" i="0">
                <a:solidFill>
                  <a:srgbClr val="17202A"/>
                </a:solidFill>
                <a:latin typeface="Calibri" panose="020F0502020204030204"/>
              </a:rPr>
              <a:t>Finance shortages, data quality gaps, and staff turnover make accurate manual forecasting near-impossible</a:t>
            </a:r>
            <a:endParaRPr sz="1600" b="0" i="0">
              <a:solidFill>
                <a:srgbClr val="17202A"/>
              </a:solidFill>
              <a:latin typeface="Calibri" panose="020F0502020204030204"/>
            </a:endParaRPr>
          </a:p>
          <a:p>
            <a:pPr algn="l">
              <a:spcAft>
                <a:spcPts val="400"/>
              </a:spcAft>
            </a:pPr>
            <a:r>
              <a:rPr sz="1400" b="0" i="1">
                <a:solidFill>
                  <a:srgbClr val="717D7E"/>
                </a:solidFill>
                <a:latin typeface="Calibri" panose="020F0502020204030204"/>
              </a:rPr>
              <a:t>  Bilal et al. — Ethiopian Pharmaceutical Supply Chain, 2024</a:t>
            </a:r>
            <a:endParaRPr sz="1400" b="0" i="1">
              <a:solidFill>
                <a:srgbClr val="717D7E"/>
              </a:solidFill>
              <a:latin typeface="Calibri" panose="020F0502020204030204"/>
            </a:endParaRPr>
          </a:p>
        </p:txBody>
      </p:sp>
      <p:sp>
        <p:nvSpPr>
          <p:cNvPr id="10" name="Rectangle 9"/>
          <p:cNvSpPr/>
          <p:nvPr/>
        </p:nvSpPr>
        <p:spPr>
          <a:xfrm>
            <a:off x="7498079" y="1188719"/>
            <a:ext cx="4480560" cy="1170432"/>
          </a:xfrm>
          <a:prstGeom prst="rect">
            <a:avLst/>
          </a:prstGeom>
          <a:solidFill>
            <a:srgbClr val="F9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Rectangle 10"/>
          <p:cNvSpPr/>
          <p:nvPr/>
        </p:nvSpPr>
        <p:spPr>
          <a:xfrm>
            <a:off x="7498079" y="1188719"/>
            <a:ext cx="54864" cy="11704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7635240" y="1261872"/>
            <a:ext cx="4206240" cy="706755"/>
          </a:xfrm>
          <a:prstGeom prst="rect">
            <a:avLst/>
          </a:prstGeom>
          <a:noFill/>
        </p:spPr>
        <p:txBody>
          <a:bodyPr wrap="square">
            <a:spAutoFit/>
          </a:bodyPr>
          <a:lstStyle/>
          <a:p>
            <a:pPr algn="l"/>
            <a:r>
              <a:rPr sz="4000" b="1" i="0">
                <a:solidFill>
                  <a:srgbClr val="C0392B"/>
                </a:solidFill>
                <a:latin typeface="Calibri" panose="020F0502020204030204"/>
              </a:rPr>
              <a:t>57%</a:t>
            </a:r>
            <a:endParaRPr sz="4000" b="1" i="0">
              <a:solidFill>
                <a:srgbClr val="C0392B"/>
              </a:solidFill>
              <a:latin typeface="Calibri" panose="020F0502020204030204"/>
            </a:endParaRPr>
          </a:p>
        </p:txBody>
      </p:sp>
      <p:sp>
        <p:nvSpPr>
          <p:cNvPr id="13" name="TextBox 12"/>
          <p:cNvSpPr txBox="1"/>
          <p:nvPr/>
        </p:nvSpPr>
        <p:spPr>
          <a:xfrm>
            <a:off x="7635240" y="1810512"/>
            <a:ext cx="4206240" cy="521970"/>
          </a:xfrm>
          <a:prstGeom prst="rect">
            <a:avLst/>
          </a:prstGeom>
          <a:noFill/>
        </p:spPr>
        <p:txBody>
          <a:bodyPr wrap="square">
            <a:spAutoFit/>
          </a:bodyPr>
          <a:lstStyle/>
          <a:p>
            <a:pPr algn="l"/>
            <a:r>
              <a:rPr sz="1400" b="0" i="0">
                <a:solidFill>
                  <a:srgbClr val="17202A"/>
                </a:solidFill>
                <a:latin typeface="Calibri" panose="020F0502020204030204"/>
              </a:rPr>
              <a:t>of children NOT fully
vaccinated in Ethiopia</a:t>
            </a:r>
            <a:endParaRPr sz="1400" b="0" i="0">
              <a:solidFill>
                <a:srgbClr val="17202A"/>
              </a:solidFill>
              <a:latin typeface="Calibri" panose="020F0502020204030204"/>
            </a:endParaRPr>
          </a:p>
        </p:txBody>
      </p:sp>
      <p:sp>
        <p:nvSpPr>
          <p:cNvPr id="14" name="Rectangle 13"/>
          <p:cNvSpPr/>
          <p:nvPr/>
        </p:nvSpPr>
        <p:spPr>
          <a:xfrm>
            <a:off x="7498079" y="2468879"/>
            <a:ext cx="4480560" cy="1170432"/>
          </a:xfrm>
          <a:prstGeom prst="rect">
            <a:avLst/>
          </a:prstGeom>
          <a:solidFill>
            <a:srgbClr val="F9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Rectangle 14"/>
          <p:cNvSpPr/>
          <p:nvPr/>
        </p:nvSpPr>
        <p:spPr>
          <a:xfrm>
            <a:off x="7498079" y="2468879"/>
            <a:ext cx="54864" cy="11704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7635240" y="2542032"/>
            <a:ext cx="4206240" cy="706755"/>
          </a:xfrm>
          <a:prstGeom prst="rect">
            <a:avLst/>
          </a:prstGeom>
          <a:noFill/>
        </p:spPr>
        <p:txBody>
          <a:bodyPr wrap="square">
            <a:spAutoFit/>
          </a:bodyPr>
          <a:lstStyle/>
          <a:p>
            <a:pPr algn="l"/>
            <a:r>
              <a:rPr sz="4000" b="1" i="0">
                <a:solidFill>
                  <a:srgbClr val="C0392B"/>
                </a:solidFill>
                <a:latin typeface="Calibri" panose="020F0502020204030204"/>
              </a:rPr>
              <a:t>18%</a:t>
            </a:r>
            <a:endParaRPr sz="4000" b="1" i="0">
              <a:solidFill>
                <a:srgbClr val="C0392B"/>
              </a:solidFill>
              <a:latin typeface="Calibri" panose="020F0502020204030204"/>
            </a:endParaRPr>
          </a:p>
        </p:txBody>
      </p:sp>
      <p:sp>
        <p:nvSpPr>
          <p:cNvPr id="17" name="TextBox 16"/>
          <p:cNvSpPr txBox="1"/>
          <p:nvPr/>
        </p:nvSpPr>
        <p:spPr>
          <a:xfrm>
            <a:off x="7635240" y="3090672"/>
            <a:ext cx="4206240" cy="521970"/>
          </a:xfrm>
          <a:prstGeom prst="rect">
            <a:avLst/>
          </a:prstGeom>
          <a:noFill/>
        </p:spPr>
        <p:txBody>
          <a:bodyPr wrap="square">
            <a:spAutoFit/>
          </a:bodyPr>
          <a:lstStyle/>
          <a:p>
            <a:pPr algn="l"/>
            <a:r>
              <a:rPr sz="1400" b="0" i="0">
                <a:solidFill>
                  <a:srgbClr val="17202A"/>
                </a:solidFill>
                <a:latin typeface="Calibri" panose="020F0502020204030204"/>
              </a:rPr>
              <a:t>of stockouts caused
by poor forecasting alone</a:t>
            </a:r>
            <a:endParaRPr sz="1400" b="0" i="0">
              <a:solidFill>
                <a:srgbClr val="17202A"/>
              </a:solidFill>
              <a:latin typeface="Calibri" panose="020F0502020204030204"/>
            </a:endParaRPr>
          </a:p>
        </p:txBody>
      </p:sp>
      <p:sp>
        <p:nvSpPr>
          <p:cNvPr id="18" name="Rectangle 17"/>
          <p:cNvSpPr/>
          <p:nvPr/>
        </p:nvSpPr>
        <p:spPr>
          <a:xfrm>
            <a:off x="7498079" y="3749039"/>
            <a:ext cx="4480560" cy="1170432"/>
          </a:xfrm>
          <a:prstGeom prst="rect">
            <a:avLst/>
          </a:prstGeom>
          <a:solidFill>
            <a:srgbClr val="F9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ectangle 18"/>
          <p:cNvSpPr/>
          <p:nvPr/>
        </p:nvSpPr>
        <p:spPr>
          <a:xfrm>
            <a:off x="7498079" y="3749039"/>
            <a:ext cx="54864" cy="11704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7635240" y="3822191"/>
            <a:ext cx="4206240" cy="706755"/>
          </a:xfrm>
          <a:prstGeom prst="rect">
            <a:avLst/>
          </a:prstGeom>
          <a:noFill/>
        </p:spPr>
        <p:txBody>
          <a:bodyPr wrap="square">
            <a:spAutoFit/>
          </a:bodyPr>
          <a:lstStyle/>
          <a:p>
            <a:pPr algn="l"/>
            <a:r>
              <a:rPr sz="4000" b="1" i="0">
                <a:solidFill>
                  <a:srgbClr val="C0392B"/>
                </a:solidFill>
                <a:latin typeface="Calibri" panose="020F0502020204030204"/>
              </a:rPr>
              <a:t>19,549</a:t>
            </a:r>
            <a:endParaRPr sz="4000" b="1" i="0">
              <a:solidFill>
                <a:srgbClr val="C0392B"/>
              </a:solidFill>
              <a:latin typeface="Calibri" panose="020F0502020204030204"/>
            </a:endParaRPr>
          </a:p>
        </p:txBody>
      </p:sp>
      <p:sp>
        <p:nvSpPr>
          <p:cNvPr id="21" name="TextBox 20"/>
          <p:cNvSpPr txBox="1"/>
          <p:nvPr/>
        </p:nvSpPr>
        <p:spPr>
          <a:xfrm>
            <a:off x="7635240" y="4370831"/>
            <a:ext cx="4206240" cy="521970"/>
          </a:xfrm>
          <a:prstGeom prst="rect">
            <a:avLst/>
          </a:prstGeom>
          <a:noFill/>
        </p:spPr>
        <p:txBody>
          <a:bodyPr wrap="square">
            <a:spAutoFit/>
          </a:bodyPr>
          <a:lstStyle/>
          <a:p>
            <a:pPr algn="l"/>
            <a:r>
              <a:rPr sz="1400" b="0" i="0">
                <a:solidFill>
                  <a:srgbClr val="17202A"/>
                </a:solidFill>
                <a:latin typeface="Calibri" panose="020F0502020204030204"/>
              </a:rPr>
              <a:t>public EPI facilities
needing supply intelligence</a:t>
            </a:r>
            <a:endParaRPr sz="1400" b="0" i="0">
              <a:solidFill>
                <a:srgbClr val="17202A"/>
              </a:solidFill>
              <a:latin typeface="Calibri" panose="020F0502020204030204"/>
            </a:endParaRPr>
          </a:p>
        </p:txBody>
      </p:sp>
      <p:sp>
        <p:nvSpPr>
          <p:cNvPr id="22" name="Rectangle 21"/>
          <p:cNvSpPr/>
          <p:nvPr/>
        </p:nvSpPr>
        <p:spPr>
          <a:xfrm>
            <a:off x="20828" y="5852159"/>
            <a:ext cx="12124944" cy="713232"/>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10033" y="5852159"/>
            <a:ext cx="54864" cy="71323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320040" y="5907024"/>
            <a:ext cx="11731752" cy="583565"/>
          </a:xfrm>
          <a:prstGeom prst="rect">
            <a:avLst/>
          </a:prstGeom>
          <a:noFill/>
        </p:spPr>
        <p:txBody>
          <a:bodyPr wrap="square">
            <a:spAutoFit/>
          </a:bodyPr>
          <a:lstStyle/>
          <a:p>
            <a:pPr algn="l"/>
            <a:r>
              <a:rPr sz="1600" b="0" i="0">
                <a:solidFill>
                  <a:srgbClr val="0B5E2E"/>
                </a:solidFill>
                <a:latin typeface="Calibri" panose="020F0502020204030204"/>
              </a:rPr>
              <a:t>VaxAlert replaces reactive, manual stock management with proactive, ML-driven 8-week forecasts — giving health workers actionable alerts before stockouts occur.</a:t>
            </a:r>
            <a:endParaRPr sz="1600" b="0" i="0">
              <a:solidFill>
                <a:srgbClr val="0B5E2E"/>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10515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10515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11823192" cy="960119"/>
          </a:xfrm>
          <a:prstGeom prst="rect">
            <a:avLst/>
          </a:prstGeom>
          <a:noFill/>
        </p:spPr>
        <p:txBody>
          <a:bodyPr wrap="square">
            <a:spAutoFit/>
          </a:bodyPr>
          <a:lstStyle/>
          <a:p>
            <a:pPr algn="l"/>
            <a:r>
              <a:rPr sz="2800" b="1" i="0">
                <a:solidFill>
                  <a:srgbClr val="FFFFFF"/>
                </a:solidFill>
                <a:latin typeface="Calibri" panose="020F0502020204030204"/>
              </a:rPr>
              <a:t>VaxAlert: Four Layers of Intelligence</a:t>
            </a:r>
            <a:endParaRPr sz="2800" b="1" i="0">
              <a:solidFill>
                <a:srgbClr val="FFFFFF"/>
              </a:solidFill>
              <a:latin typeface="Calibri" panose="020F0502020204030204"/>
            </a:endParaRPr>
          </a:p>
        </p:txBody>
      </p:sp>
      <p:sp>
        <p:nvSpPr>
          <p:cNvPr id="5" name="Rectangle 4"/>
          <p:cNvSpPr/>
          <p:nvPr/>
        </p:nvSpPr>
        <p:spPr>
          <a:xfrm>
            <a:off x="0" y="6565392"/>
            <a:ext cx="12188952" cy="2926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6601968"/>
            <a:ext cx="11823192" cy="229870"/>
          </a:xfrm>
          <a:prstGeom prst="rect">
            <a:avLst/>
          </a:prstGeom>
          <a:noFill/>
        </p:spPr>
        <p:txBody>
          <a:bodyPr wrap="square">
            <a:spAutoFit/>
          </a:bodyPr>
          <a:lstStyle/>
          <a:p>
            <a:pPr algn="l"/>
            <a:r>
              <a:rPr sz="900" b="0" i="0">
                <a:solidFill>
                  <a:srgbClr val="FFFFFF"/>
                </a:solidFill>
                <a:latin typeface="Calibri" panose="020F0502020204030204"/>
              </a:rPr>
              <a:t>VaxAlert  |  2026</a:t>
            </a:r>
            <a:endParaRPr sz="900" b="0" i="0">
              <a:solidFill>
                <a:srgbClr val="FFFFFF"/>
              </a:solidFill>
              <a:latin typeface="Calibri" panose="020F0502020204030204"/>
            </a:endParaRPr>
          </a:p>
        </p:txBody>
      </p:sp>
      <p:sp>
        <p:nvSpPr>
          <p:cNvPr id="7" name="Rectangle 6"/>
          <p:cNvSpPr/>
          <p:nvPr/>
        </p:nvSpPr>
        <p:spPr>
          <a:xfrm>
            <a:off x="0" y="1051560"/>
            <a:ext cx="64008" cy="5513831"/>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 y="1088390"/>
            <a:ext cx="12124944" cy="55138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1565783"/>
            <a:ext cx="2852928" cy="1920240"/>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1533398"/>
            <a:ext cx="2852928" cy="457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 y="1533398"/>
            <a:ext cx="45720" cy="19202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 y="1657223"/>
            <a:ext cx="2688336" cy="347472"/>
          </a:xfrm>
          <a:prstGeom prst="rect">
            <a:avLst/>
          </a:prstGeom>
          <a:noFill/>
        </p:spPr>
        <p:txBody>
          <a:bodyPr wrap="square">
            <a:spAutoFit/>
          </a:bodyPr>
          <a:lstStyle/>
          <a:p>
            <a:pPr algn="l"/>
            <a:r>
              <a:rPr sz="1200" b="1" i="0">
                <a:solidFill>
                  <a:srgbClr val="1B4F72"/>
                </a:solidFill>
                <a:latin typeface="Calibri" panose="020F0502020204030204"/>
              </a:rPr>
              <a:t>Forecast Engine</a:t>
            </a:r>
            <a:endParaRPr sz="1200" b="1" i="0">
              <a:solidFill>
                <a:srgbClr val="1B4F72"/>
              </a:solidFill>
              <a:latin typeface="Calibri" panose="020F0502020204030204"/>
            </a:endParaRPr>
          </a:p>
        </p:txBody>
      </p:sp>
      <p:sp>
        <p:nvSpPr>
          <p:cNvPr id="13" name="TextBox 12"/>
          <p:cNvSpPr txBox="1"/>
          <p:nvPr/>
        </p:nvSpPr>
        <p:spPr>
          <a:xfrm>
            <a:off x="310896" y="1977262"/>
            <a:ext cx="2688336" cy="953135"/>
          </a:xfrm>
          <a:prstGeom prst="rect">
            <a:avLst/>
          </a:prstGeom>
          <a:noFill/>
        </p:spPr>
        <p:txBody>
          <a:bodyPr wrap="square">
            <a:spAutoFit/>
          </a:bodyPr>
          <a:lstStyle/>
          <a:p>
            <a:pPr algn="l"/>
            <a:r>
              <a:rPr sz="1400" b="0" i="0">
                <a:solidFill>
                  <a:srgbClr val="17202A"/>
                </a:solidFill>
                <a:latin typeface="Calibri" panose="020F0502020204030204"/>
              </a:rPr>
              <a:t>8-week ahead stock-level forecasts per facility and antigen. An ensemble of 5 models, blended by </a:t>
            </a:r>
            <a:r>
              <a:rPr lang="en-US" sz="1400" b="0" i="0">
                <a:solidFill>
                  <a:srgbClr val="17202A"/>
                </a:solidFill>
                <a:latin typeface="Calibri" panose="020F0502020204030204"/>
              </a:rPr>
              <a:t>an ensemble model</a:t>
            </a:r>
            <a:endParaRPr lang="en-US" sz="1400" b="0" i="0">
              <a:solidFill>
                <a:srgbClr val="17202A"/>
              </a:solidFill>
              <a:latin typeface="Calibri" panose="020F0502020204030204"/>
            </a:endParaRPr>
          </a:p>
        </p:txBody>
      </p:sp>
      <p:sp>
        <p:nvSpPr>
          <p:cNvPr id="14" name="Rectangle 13"/>
          <p:cNvSpPr/>
          <p:nvPr/>
        </p:nvSpPr>
        <p:spPr>
          <a:xfrm>
            <a:off x="3136392" y="1565783"/>
            <a:ext cx="2852928" cy="1920240"/>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36392" y="1533398"/>
            <a:ext cx="2852928" cy="457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36392" y="1533398"/>
            <a:ext cx="45720" cy="19202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6120" y="1657223"/>
            <a:ext cx="2688336" cy="347472"/>
          </a:xfrm>
          <a:prstGeom prst="rect">
            <a:avLst/>
          </a:prstGeom>
          <a:noFill/>
        </p:spPr>
        <p:txBody>
          <a:bodyPr wrap="square">
            <a:spAutoFit/>
          </a:bodyPr>
          <a:lstStyle/>
          <a:p>
            <a:pPr algn="l"/>
            <a:r>
              <a:rPr sz="1200" b="1" i="0">
                <a:solidFill>
                  <a:srgbClr val="1B4F72"/>
                </a:solidFill>
                <a:latin typeface="Calibri" panose="020F0502020204030204"/>
              </a:rPr>
              <a:t>Tiered Alert System</a:t>
            </a:r>
            <a:endParaRPr sz="1200" b="1" i="0">
              <a:solidFill>
                <a:srgbClr val="1B4F72"/>
              </a:solidFill>
              <a:latin typeface="Calibri" panose="020F0502020204030204"/>
            </a:endParaRPr>
          </a:p>
        </p:txBody>
      </p:sp>
      <p:sp>
        <p:nvSpPr>
          <p:cNvPr id="18" name="TextBox 17"/>
          <p:cNvSpPr txBox="1"/>
          <p:nvPr/>
        </p:nvSpPr>
        <p:spPr>
          <a:xfrm>
            <a:off x="3246120" y="1977262"/>
            <a:ext cx="2688336" cy="1383665"/>
          </a:xfrm>
          <a:prstGeom prst="rect">
            <a:avLst/>
          </a:prstGeom>
          <a:noFill/>
        </p:spPr>
        <p:txBody>
          <a:bodyPr wrap="square">
            <a:spAutoFit/>
          </a:bodyPr>
          <a:lstStyle/>
          <a:p>
            <a:pPr algn="l"/>
            <a:r>
              <a:rPr sz="1400" b="0" i="0">
                <a:solidFill>
                  <a:srgbClr val="17202A"/>
                </a:solidFill>
                <a:latin typeface="Calibri" panose="020F0502020204030204"/>
              </a:rPr>
              <a:t>Critical / Warning / OK classification based on predicted Days-to-Stockout versus lead time plus a tier-specific safety buffer. Pastoral facilities get wider buffers than urban ones.</a:t>
            </a:r>
            <a:endParaRPr sz="1400" b="0" i="0">
              <a:solidFill>
                <a:srgbClr val="17202A"/>
              </a:solidFill>
              <a:latin typeface="Calibri" panose="020F0502020204030204"/>
            </a:endParaRPr>
          </a:p>
        </p:txBody>
      </p:sp>
      <p:sp>
        <p:nvSpPr>
          <p:cNvPr id="19" name="Rectangle 18"/>
          <p:cNvSpPr/>
          <p:nvPr/>
        </p:nvSpPr>
        <p:spPr>
          <a:xfrm>
            <a:off x="6071616" y="1565783"/>
            <a:ext cx="2852928" cy="1920240"/>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71616" y="1533398"/>
            <a:ext cx="2852928" cy="457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71616" y="1533398"/>
            <a:ext cx="45720" cy="19202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81344" y="1657223"/>
            <a:ext cx="2688336" cy="347472"/>
          </a:xfrm>
          <a:prstGeom prst="rect">
            <a:avLst/>
          </a:prstGeom>
          <a:noFill/>
        </p:spPr>
        <p:txBody>
          <a:bodyPr wrap="square">
            <a:spAutoFit/>
          </a:bodyPr>
          <a:lstStyle/>
          <a:p>
            <a:pPr algn="l"/>
            <a:r>
              <a:rPr sz="1200" b="1" i="0">
                <a:solidFill>
                  <a:srgbClr val="1B4F72"/>
                </a:solidFill>
                <a:latin typeface="Calibri" panose="020F0502020204030204"/>
              </a:rPr>
              <a:t>Cascade Detection</a:t>
            </a:r>
            <a:endParaRPr sz="1200" b="1" i="0">
              <a:solidFill>
                <a:srgbClr val="1B4F72"/>
              </a:solidFill>
              <a:latin typeface="Calibri" panose="020F0502020204030204"/>
            </a:endParaRPr>
          </a:p>
        </p:txBody>
      </p:sp>
      <p:sp>
        <p:nvSpPr>
          <p:cNvPr id="23" name="TextBox 22"/>
          <p:cNvSpPr txBox="1"/>
          <p:nvPr/>
        </p:nvSpPr>
        <p:spPr>
          <a:xfrm>
            <a:off x="6181344" y="1977262"/>
            <a:ext cx="2688336" cy="1383665"/>
          </a:xfrm>
          <a:prstGeom prst="rect">
            <a:avLst/>
          </a:prstGeom>
          <a:noFill/>
        </p:spPr>
        <p:txBody>
          <a:bodyPr wrap="square">
            <a:spAutoFit/>
          </a:bodyPr>
          <a:lstStyle/>
          <a:p>
            <a:pPr algn="l"/>
            <a:r>
              <a:rPr sz="1400" b="0" i="0">
                <a:solidFill>
                  <a:srgbClr val="17202A"/>
                </a:solidFill>
                <a:latin typeface="Calibri" panose="020F0502020204030204"/>
              </a:rPr>
              <a:t>Models Health Center to Health Post supply dependencies. Flags downstream HP risk the moment their supervising HC enters a warning state — before the cascade becomes a stockout.</a:t>
            </a:r>
            <a:endParaRPr sz="1400" b="0" i="0">
              <a:solidFill>
                <a:srgbClr val="17202A"/>
              </a:solidFill>
              <a:latin typeface="Calibri" panose="020F0502020204030204"/>
            </a:endParaRPr>
          </a:p>
        </p:txBody>
      </p:sp>
      <p:sp>
        <p:nvSpPr>
          <p:cNvPr id="24" name="Rectangle 23"/>
          <p:cNvSpPr/>
          <p:nvPr/>
        </p:nvSpPr>
        <p:spPr>
          <a:xfrm>
            <a:off x="9006840" y="1565783"/>
            <a:ext cx="2852928" cy="1920240"/>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1533398"/>
            <a:ext cx="2852928" cy="4572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533398"/>
            <a:ext cx="45720" cy="192024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16567" y="1657223"/>
            <a:ext cx="2688336" cy="347472"/>
          </a:xfrm>
          <a:prstGeom prst="rect">
            <a:avLst/>
          </a:prstGeom>
          <a:noFill/>
        </p:spPr>
        <p:txBody>
          <a:bodyPr wrap="square">
            <a:spAutoFit/>
          </a:bodyPr>
          <a:lstStyle/>
          <a:p>
            <a:pPr algn="l"/>
            <a:r>
              <a:rPr sz="1200" b="1" i="0">
                <a:solidFill>
                  <a:srgbClr val="1B4F72"/>
                </a:solidFill>
                <a:latin typeface="Calibri" panose="020F0502020204030204"/>
              </a:rPr>
              <a:t>Restock Suggestions</a:t>
            </a:r>
            <a:endParaRPr sz="1200" b="1" i="0">
              <a:solidFill>
                <a:srgbClr val="1B4F72"/>
              </a:solidFill>
              <a:latin typeface="Calibri" panose="020F0502020204030204"/>
            </a:endParaRPr>
          </a:p>
        </p:txBody>
      </p:sp>
      <p:sp>
        <p:nvSpPr>
          <p:cNvPr id="28" name="TextBox 27"/>
          <p:cNvSpPr txBox="1"/>
          <p:nvPr/>
        </p:nvSpPr>
        <p:spPr>
          <a:xfrm>
            <a:off x="9116567" y="1977262"/>
            <a:ext cx="2688336" cy="1168400"/>
          </a:xfrm>
          <a:prstGeom prst="rect">
            <a:avLst/>
          </a:prstGeom>
          <a:noFill/>
        </p:spPr>
        <p:txBody>
          <a:bodyPr wrap="square">
            <a:spAutoFit/>
          </a:bodyPr>
          <a:lstStyle/>
          <a:p>
            <a:pPr algn="l"/>
            <a:r>
              <a:rPr sz="1400" b="0" i="0">
                <a:solidFill>
                  <a:srgbClr val="17202A"/>
                </a:solidFill>
                <a:latin typeface="Calibri" panose="020F0502020204030204"/>
              </a:rPr>
              <a:t>Calculates the exact order quantity per facility and antigen, rounded to full vials, using lead time plus a safety buffer of 2 to 7 weeks depending on access tier.</a:t>
            </a:r>
            <a:endParaRPr sz="1400" b="0" i="0">
              <a:solidFill>
                <a:srgbClr val="17202A"/>
              </a:solidFill>
              <a:latin typeface="Calibri" panose="020F0502020204030204"/>
            </a:endParaRPr>
          </a:p>
        </p:txBody>
      </p:sp>
      <p:sp>
        <p:nvSpPr>
          <p:cNvPr id="29" name="Rectangle 28"/>
          <p:cNvSpPr/>
          <p:nvPr/>
        </p:nvSpPr>
        <p:spPr>
          <a:xfrm>
            <a:off x="848868" y="4357370"/>
            <a:ext cx="1417320" cy="68580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4588" y="4412234"/>
            <a:ext cx="1325880" cy="460375"/>
          </a:xfrm>
          <a:prstGeom prst="rect">
            <a:avLst/>
          </a:prstGeom>
          <a:noFill/>
        </p:spPr>
        <p:txBody>
          <a:bodyPr wrap="square">
            <a:spAutoFit/>
          </a:bodyPr>
          <a:lstStyle/>
          <a:p>
            <a:pPr algn="ctr"/>
            <a:r>
              <a:rPr sz="1200" b="1" i="0">
                <a:solidFill>
                  <a:srgbClr val="FFFFFF"/>
                </a:solidFill>
                <a:latin typeface="Calibri" panose="020F0502020204030204"/>
              </a:rPr>
              <a:t>Stock
Ledger Data</a:t>
            </a:r>
            <a:endParaRPr sz="1200" b="1" i="0">
              <a:solidFill>
                <a:srgbClr val="FFFFFF"/>
              </a:solidFill>
              <a:latin typeface="Calibri" panose="020F0502020204030204"/>
            </a:endParaRPr>
          </a:p>
        </p:txBody>
      </p:sp>
      <p:sp>
        <p:nvSpPr>
          <p:cNvPr id="31" name="Rectangle 30"/>
          <p:cNvSpPr/>
          <p:nvPr/>
        </p:nvSpPr>
        <p:spPr>
          <a:xfrm>
            <a:off x="2522219" y="4357370"/>
            <a:ext cx="1600200" cy="685800"/>
          </a:xfrm>
          <a:prstGeom prst="rect">
            <a:avLst/>
          </a:prstGeom>
          <a:solidFill>
            <a:srgbClr val="2161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7939" y="4412234"/>
            <a:ext cx="1508760" cy="460375"/>
          </a:xfrm>
          <a:prstGeom prst="rect">
            <a:avLst/>
          </a:prstGeom>
          <a:noFill/>
        </p:spPr>
        <p:txBody>
          <a:bodyPr wrap="square">
            <a:spAutoFit/>
          </a:bodyPr>
          <a:lstStyle/>
          <a:p>
            <a:pPr algn="ctr"/>
            <a:r>
              <a:rPr sz="1200" b="1" i="0">
                <a:solidFill>
                  <a:srgbClr val="FFFFFF"/>
                </a:solidFill>
                <a:latin typeface="Calibri" panose="020F0502020204030204"/>
              </a:rPr>
              <a:t>5 Forecasting
Models</a:t>
            </a:r>
            <a:endParaRPr sz="1200" b="1" i="0">
              <a:solidFill>
                <a:srgbClr val="FFFFFF"/>
              </a:solidFill>
              <a:latin typeface="Calibri" panose="020F0502020204030204"/>
            </a:endParaRPr>
          </a:p>
        </p:txBody>
      </p:sp>
      <p:sp>
        <p:nvSpPr>
          <p:cNvPr id="33" name="Rectangle 32"/>
          <p:cNvSpPr/>
          <p:nvPr/>
        </p:nvSpPr>
        <p:spPr>
          <a:xfrm>
            <a:off x="4369308" y="4357370"/>
            <a:ext cx="1600200" cy="68580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15028" y="4412234"/>
            <a:ext cx="1508760" cy="460375"/>
          </a:xfrm>
          <a:prstGeom prst="rect">
            <a:avLst/>
          </a:prstGeom>
          <a:noFill/>
        </p:spPr>
        <p:txBody>
          <a:bodyPr wrap="square">
            <a:spAutoFit/>
          </a:bodyPr>
          <a:lstStyle/>
          <a:p>
            <a:pPr algn="ctr"/>
            <a:r>
              <a:rPr sz="1200" b="1" i="0">
                <a:solidFill>
                  <a:srgbClr val="FFFFFF"/>
                </a:solidFill>
                <a:latin typeface="Calibri" panose="020F0502020204030204"/>
              </a:rPr>
              <a:t>Ensemble
Blend</a:t>
            </a:r>
            <a:endParaRPr sz="1200" b="1" i="0">
              <a:solidFill>
                <a:srgbClr val="FFFFFF"/>
              </a:solidFill>
              <a:latin typeface="Calibri" panose="020F0502020204030204"/>
            </a:endParaRPr>
          </a:p>
        </p:txBody>
      </p:sp>
      <p:sp>
        <p:nvSpPr>
          <p:cNvPr id="35" name="Rectangle 34"/>
          <p:cNvSpPr/>
          <p:nvPr/>
        </p:nvSpPr>
        <p:spPr>
          <a:xfrm>
            <a:off x="6216396" y="4357370"/>
            <a:ext cx="1417320" cy="685800"/>
          </a:xfrm>
          <a:prstGeom prst="rect">
            <a:avLst/>
          </a:prstGeom>
          <a:solidFill>
            <a:srgbClr val="CA6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2116" y="4412234"/>
            <a:ext cx="1325880" cy="460375"/>
          </a:xfrm>
          <a:prstGeom prst="rect">
            <a:avLst/>
          </a:prstGeom>
          <a:noFill/>
        </p:spPr>
        <p:txBody>
          <a:bodyPr wrap="square">
            <a:spAutoFit/>
          </a:bodyPr>
          <a:lstStyle/>
          <a:p>
            <a:pPr algn="ctr"/>
            <a:r>
              <a:rPr sz="1200" b="1" i="0">
                <a:solidFill>
                  <a:srgbClr val="FFFFFF"/>
                </a:solidFill>
                <a:latin typeface="Calibri" panose="020F0502020204030204"/>
              </a:rPr>
              <a:t>Alert
Engine</a:t>
            </a:r>
            <a:endParaRPr sz="1200" b="1" i="0">
              <a:solidFill>
                <a:srgbClr val="FFFFFF"/>
              </a:solidFill>
              <a:latin typeface="Calibri" panose="020F0502020204030204"/>
            </a:endParaRPr>
          </a:p>
        </p:txBody>
      </p:sp>
      <p:sp>
        <p:nvSpPr>
          <p:cNvPr id="37" name="Rectangle 36"/>
          <p:cNvSpPr/>
          <p:nvPr/>
        </p:nvSpPr>
        <p:spPr>
          <a:xfrm>
            <a:off x="7880604" y="4357370"/>
            <a:ext cx="1600200" cy="68580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26324" y="4412234"/>
            <a:ext cx="1508760" cy="460375"/>
          </a:xfrm>
          <a:prstGeom prst="rect">
            <a:avLst/>
          </a:prstGeom>
          <a:noFill/>
        </p:spPr>
        <p:txBody>
          <a:bodyPr wrap="square">
            <a:spAutoFit/>
          </a:bodyPr>
          <a:lstStyle/>
          <a:p>
            <a:pPr algn="ctr"/>
            <a:r>
              <a:rPr sz="1200" b="1" i="0">
                <a:solidFill>
                  <a:srgbClr val="FFFFFF"/>
                </a:solidFill>
                <a:latin typeface="Calibri" panose="020F0502020204030204"/>
              </a:rPr>
              <a:t>4-View
Dashboard</a:t>
            </a:r>
            <a:endParaRPr sz="1200" b="1" i="0">
              <a:solidFill>
                <a:srgbClr val="FFFFFF"/>
              </a:solidFill>
              <a:latin typeface="Calibri" panose="020F0502020204030204"/>
            </a:endParaRPr>
          </a:p>
        </p:txBody>
      </p:sp>
      <p:sp>
        <p:nvSpPr>
          <p:cNvPr id="39" name="Rectangle 38"/>
          <p:cNvSpPr/>
          <p:nvPr/>
        </p:nvSpPr>
        <p:spPr>
          <a:xfrm>
            <a:off x="9727692" y="4357370"/>
            <a:ext cx="1600200" cy="68580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73412" y="4412234"/>
            <a:ext cx="1508760" cy="460375"/>
          </a:xfrm>
          <a:prstGeom prst="rect">
            <a:avLst/>
          </a:prstGeom>
          <a:noFill/>
        </p:spPr>
        <p:txBody>
          <a:bodyPr wrap="square">
            <a:spAutoFit/>
          </a:bodyPr>
          <a:lstStyle/>
          <a:p>
            <a:pPr algn="ctr"/>
            <a:r>
              <a:rPr sz="1200" b="1" i="0">
                <a:solidFill>
                  <a:srgbClr val="FFFFFF"/>
                </a:solidFill>
                <a:latin typeface="Calibri" panose="020F0502020204030204"/>
              </a:rPr>
              <a:t>Supply Chain
Action</a:t>
            </a:r>
            <a:endParaRPr sz="1200" b="1" i="0">
              <a:solidFill>
                <a:srgbClr val="FFFFFF"/>
              </a:solidFill>
              <a:latin typeface="Calibri" panose="020F0502020204030204"/>
            </a:endParaRPr>
          </a:p>
        </p:txBody>
      </p:sp>
      <p:sp>
        <p:nvSpPr>
          <p:cNvPr id="41" name="Rectangle 40"/>
          <p:cNvSpPr/>
          <p:nvPr/>
        </p:nvSpPr>
        <p:spPr>
          <a:xfrm>
            <a:off x="2272538" y="4654550"/>
            <a:ext cx="228600" cy="45720"/>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128770" y="4654550"/>
            <a:ext cx="228600" cy="45720"/>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74588" y="4643755"/>
            <a:ext cx="228600" cy="45720"/>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38796" y="4654550"/>
            <a:ext cx="228600" cy="45720"/>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484614" y="4654550"/>
            <a:ext cx="228600" cy="45720"/>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 y="5134610"/>
            <a:ext cx="11786616" cy="274320"/>
          </a:xfrm>
          <a:prstGeom prst="rect">
            <a:avLst/>
          </a:prstGeom>
          <a:noFill/>
        </p:spPr>
        <p:txBody>
          <a:bodyPr wrap="square">
            <a:spAutoFit/>
          </a:bodyPr>
          <a:lstStyle/>
          <a:p>
            <a:pPr algn="ctr"/>
            <a:r>
              <a:rPr sz="950" b="0" i="1">
                <a:solidFill>
                  <a:srgbClr val="717D7E"/>
                </a:solidFill>
                <a:latin typeface="Calibri" panose="020F0502020204030204"/>
              </a:rPr>
              <a:t>National Overview   |   Facility Drill-Down   |   Cascade View   |   Model Performance</a:t>
            </a:r>
            <a:endParaRPr sz="950" b="0" i="1">
              <a:solidFill>
                <a:srgbClr val="717D7E"/>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10515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10515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11823192" cy="960119"/>
          </a:xfrm>
          <a:prstGeom prst="rect">
            <a:avLst/>
          </a:prstGeom>
          <a:noFill/>
        </p:spPr>
        <p:txBody>
          <a:bodyPr wrap="square">
            <a:spAutoFit/>
          </a:bodyPr>
          <a:lstStyle/>
          <a:p>
            <a:pPr algn="l"/>
            <a:r>
              <a:rPr sz="2800" b="1" i="0">
                <a:solidFill>
                  <a:srgbClr val="FFFFFF"/>
                </a:solidFill>
                <a:latin typeface="Calibri" panose="020F0502020204030204"/>
              </a:rPr>
              <a:t>Data Foundation &amp; Model Architecture</a:t>
            </a:r>
            <a:endParaRPr sz="2800" b="1" i="0">
              <a:solidFill>
                <a:srgbClr val="FFFFFF"/>
              </a:solidFill>
              <a:latin typeface="Calibri" panose="020F0502020204030204"/>
            </a:endParaRPr>
          </a:p>
        </p:txBody>
      </p:sp>
      <p:sp>
        <p:nvSpPr>
          <p:cNvPr id="5" name="Rectangle 4"/>
          <p:cNvSpPr/>
          <p:nvPr/>
        </p:nvSpPr>
        <p:spPr>
          <a:xfrm>
            <a:off x="0" y="6565392"/>
            <a:ext cx="12188952" cy="2926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6601968"/>
            <a:ext cx="11823192" cy="229870"/>
          </a:xfrm>
          <a:prstGeom prst="rect">
            <a:avLst/>
          </a:prstGeom>
          <a:noFill/>
        </p:spPr>
        <p:txBody>
          <a:bodyPr wrap="square">
            <a:spAutoFit/>
          </a:bodyPr>
          <a:lstStyle/>
          <a:p>
            <a:pPr algn="l"/>
            <a:r>
              <a:rPr sz="900" b="0" i="0">
                <a:solidFill>
                  <a:srgbClr val="FFFFFF"/>
                </a:solidFill>
                <a:latin typeface="Calibri" panose="020F0502020204030204"/>
              </a:rPr>
              <a:t>VaxAlert  |  2026</a:t>
            </a:r>
            <a:endParaRPr sz="900" b="0" i="0">
              <a:solidFill>
                <a:srgbClr val="FFFFFF"/>
              </a:solidFill>
              <a:latin typeface="Calibri" panose="020F0502020204030204"/>
            </a:endParaRPr>
          </a:p>
        </p:txBody>
      </p:sp>
      <p:sp>
        <p:nvSpPr>
          <p:cNvPr id="7" name="Rectangle 6"/>
          <p:cNvSpPr/>
          <p:nvPr/>
        </p:nvSpPr>
        <p:spPr>
          <a:xfrm>
            <a:off x="0" y="1051560"/>
            <a:ext cx="64008" cy="5513831"/>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1216151"/>
            <a:ext cx="5760720" cy="42976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292608" y="1289304"/>
            <a:ext cx="2419502" cy="306705"/>
          </a:xfrm>
          <a:prstGeom prst="rect">
            <a:avLst/>
          </a:prstGeom>
          <a:noFill/>
        </p:spPr>
        <p:txBody>
          <a:bodyPr wrap="square">
            <a:spAutoFit/>
          </a:bodyPr>
          <a:lstStyle/>
          <a:p>
            <a:pPr algn="l"/>
            <a:r>
              <a:rPr sz="1400" b="1" i="0">
                <a:solidFill>
                  <a:srgbClr val="FFFFFF"/>
                </a:solidFill>
                <a:latin typeface="Calibri" panose="020F0502020204030204"/>
              </a:rPr>
              <a:t>Dimension</a:t>
            </a:r>
            <a:endParaRPr sz="1400" b="1" i="0">
              <a:solidFill>
                <a:srgbClr val="FFFFFF"/>
              </a:solidFill>
              <a:latin typeface="Calibri" panose="020F0502020204030204"/>
            </a:endParaRPr>
          </a:p>
        </p:txBody>
      </p:sp>
      <p:sp>
        <p:nvSpPr>
          <p:cNvPr id="11" name="TextBox 10"/>
          <p:cNvSpPr txBox="1"/>
          <p:nvPr/>
        </p:nvSpPr>
        <p:spPr>
          <a:xfrm>
            <a:off x="2678277" y="1289304"/>
            <a:ext cx="3168396" cy="306705"/>
          </a:xfrm>
          <a:prstGeom prst="rect">
            <a:avLst/>
          </a:prstGeom>
          <a:noFill/>
        </p:spPr>
        <p:txBody>
          <a:bodyPr wrap="square">
            <a:spAutoFit/>
          </a:bodyPr>
          <a:lstStyle/>
          <a:p>
            <a:pPr algn="l"/>
            <a:r>
              <a:rPr sz="1400" b="1" i="0">
                <a:solidFill>
                  <a:srgbClr val="FFFFFF"/>
                </a:solidFill>
                <a:latin typeface="Calibri" panose="020F0502020204030204"/>
              </a:rPr>
              <a:t>Value</a:t>
            </a:r>
            <a:endParaRPr sz="1400" b="1" i="0">
              <a:solidFill>
                <a:srgbClr val="FFFFFF"/>
              </a:solidFill>
              <a:latin typeface="Calibri" panose="020F0502020204030204"/>
            </a:endParaRPr>
          </a:p>
        </p:txBody>
      </p:sp>
      <p:sp>
        <p:nvSpPr>
          <p:cNvPr id="12" name="Rectangle 11"/>
          <p:cNvSpPr/>
          <p:nvPr/>
        </p:nvSpPr>
        <p:spPr>
          <a:xfrm>
            <a:off x="201168" y="1645919"/>
            <a:ext cx="576072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ectangle 12"/>
          <p:cNvSpPr/>
          <p:nvPr/>
        </p:nvSpPr>
        <p:spPr>
          <a:xfrm>
            <a:off x="201168" y="1645919"/>
            <a:ext cx="5760720" cy="429768"/>
          </a:xfrm>
          <a:prstGeom prst="rect">
            <a:avLst/>
          </a:prstGeom>
          <a:solidFill>
            <a:srgbClr val="FFFFFF"/>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292608" y="1682495"/>
            <a:ext cx="2419502" cy="275590"/>
          </a:xfrm>
          <a:prstGeom prst="rect">
            <a:avLst/>
          </a:prstGeom>
          <a:noFill/>
        </p:spPr>
        <p:txBody>
          <a:bodyPr wrap="square">
            <a:spAutoFit/>
          </a:bodyPr>
          <a:lstStyle/>
          <a:p>
            <a:pPr algn="l"/>
            <a:r>
              <a:rPr sz="1200" b="1" i="0">
                <a:solidFill>
                  <a:srgbClr val="17202A"/>
                </a:solidFill>
                <a:latin typeface="Calibri" panose="020F0502020204030204"/>
              </a:rPr>
              <a:t>Simulation span</a:t>
            </a:r>
            <a:endParaRPr sz="1200" b="1" i="0">
              <a:solidFill>
                <a:srgbClr val="17202A"/>
              </a:solidFill>
              <a:latin typeface="Calibri" panose="020F0502020204030204"/>
            </a:endParaRPr>
          </a:p>
        </p:txBody>
      </p:sp>
      <p:sp>
        <p:nvSpPr>
          <p:cNvPr id="15" name="TextBox 14"/>
          <p:cNvSpPr txBox="1"/>
          <p:nvPr/>
        </p:nvSpPr>
        <p:spPr>
          <a:xfrm>
            <a:off x="2678277" y="1682495"/>
            <a:ext cx="3168396" cy="275590"/>
          </a:xfrm>
          <a:prstGeom prst="rect">
            <a:avLst/>
          </a:prstGeom>
          <a:noFill/>
        </p:spPr>
        <p:txBody>
          <a:bodyPr wrap="square">
            <a:spAutoFit/>
          </a:bodyPr>
          <a:lstStyle/>
          <a:p>
            <a:pPr algn="l"/>
            <a:r>
              <a:rPr sz="1200" b="0" i="0">
                <a:solidFill>
                  <a:srgbClr val="17202A"/>
                </a:solidFill>
                <a:latin typeface="Calibri" panose="020F0502020204030204"/>
              </a:rPr>
              <a:t>7 years (364 weeks)</a:t>
            </a:r>
            <a:endParaRPr sz="1200" b="0" i="0">
              <a:solidFill>
                <a:srgbClr val="17202A"/>
              </a:solidFill>
              <a:latin typeface="Calibri" panose="020F0502020204030204"/>
            </a:endParaRPr>
          </a:p>
        </p:txBody>
      </p:sp>
      <p:sp>
        <p:nvSpPr>
          <p:cNvPr id="16" name="Rectangle 15"/>
          <p:cNvSpPr/>
          <p:nvPr/>
        </p:nvSpPr>
        <p:spPr>
          <a:xfrm>
            <a:off x="201168" y="2075687"/>
            <a:ext cx="5760720" cy="42976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Rectangle 16"/>
          <p:cNvSpPr/>
          <p:nvPr/>
        </p:nvSpPr>
        <p:spPr>
          <a:xfrm>
            <a:off x="201168" y="2075687"/>
            <a:ext cx="5760720" cy="429768"/>
          </a:xfrm>
          <a:prstGeom prst="rect">
            <a:avLst/>
          </a:prstGeom>
          <a:solidFill>
            <a:srgbClr val="F2F3F4"/>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292608" y="2112263"/>
            <a:ext cx="2419502" cy="275590"/>
          </a:xfrm>
          <a:prstGeom prst="rect">
            <a:avLst/>
          </a:prstGeom>
          <a:noFill/>
        </p:spPr>
        <p:txBody>
          <a:bodyPr wrap="square">
            <a:spAutoFit/>
          </a:bodyPr>
          <a:lstStyle/>
          <a:p>
            <a:pPr algn="l"/>
            <a:r>
              <a:rPr sz="1200" b="1" i="0">
                <a:solidFill>
                  <a:srgbClr val="17202A"/>
                </a:solidFill>
                <a:latin typeface="Calibri" panose="020F0502020204030204"/>
              </a:rPr>
              <a:t>Facilities</a:t>
            </a:r>
            <a:endParaRPr sz="1200" b="1" i="0">
              <a:solidFill>
                <a:srgbClr val="17202A"/>
              </a:solidFill>
              <a:latin typeface="Calibri" panose="020F0502020204030204"/>
            </a:endParaRPr>
          </a:p>
        </p:txBody>
      </p:sp>
      <p:sp>
        <p:nvSpPr>
          <p:cNvPr id="19" name="TextBox 18"/>
          <p:cNvSpPr txBox="1"/>
          <p:nvPr/>
        </p:nvSpPr>
        <p:spPr>
          <a:xfrm>
            <a:off x="2678277" y="2112263"/>
            <a:ext cx="3168396" cy="275590"/>
          </a:xfrm>
          <a:prstGeom prst="rect">
            <a:avLst/>
          </a:prstGeom>
          <a:noFill/>
        </p:spPr>
        <p:txBody>
          <a:bodyPr wrap="square">
            <a:spAutoFit/>
          </a:bodyPr>
          <a:lstStyle/>
          <a:p>
            <a:pPr algn="l"/>
            <a:r>
              <a:rPr sz="1200" b="0" i="0">
                <a:solidFill>
                  <a:srgbClr val="17202A"/>
                </a:solidFill>
                <a:latin typeface="Calibri" panose="020F0502020204030204"/>
              </a:rPr>
              <a:t>50  (Health Posts, Health Centers, Hospitals)</a:t>
            </a:r>
            <a:endParaRPr sz="1200" b="0" i="0">
              <a:solidFill>
                <a:srgbClr val="17202A"/>
              </a:solidFill>
              <a:latin typeface="Calibri" panose="020F0502020204030204"/>
            </a:endParaRPr>
          </a:p>
        </p:txBody>
      </p:sp>
      <p:sp>
        <p:nvSpPr>
          <p:cNvPr id="20" name="Rectangle 19"/>
          <p:cNvSpPr/>
          <p:nvPr/>
        </p:nvSpPr>
        <p:spPr>
          <a:xfrm>
            <a:off x="201168" y="2505456"/>
            <a:ext cx="576072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0"/>
          <p:cNvSpPr/>
          <p:nvPr/>
        </p:nvSpPr>
        <p:spPr>
          <a:xfrm>
            <a:off x="201168" y="2505456"/>
            <a:ext cx="5760720" cy="429768"/>
          </a:xfrm>
          <a:prstGeom prst="rect">
            <a:avLst/>
          </a:prstGeom>
          <a:solidFill>
            <a:srgbClr val="FFFFFF"/>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292608" y="2542032"/>
            <a:ext cx="2419502" cy="275590"/>
          </a:xfrm>
          <a:prstGeom prst="rect">
            <a:avLst/>
          </a:prstGeom>
          <a:noFill/>
        </p:spPr>
        <p:txBody>
          <a:bodyPr wrap="square">
            <a:spAutoFit/>
          </a:bodyPr>
          <a:lstStyle/>
          <a:p>
            <a:pPr algn="l"/>
            <a:r>
              <a:rPr sz="1200" b="1" i="0">
                <a:solidFill>
                  <a:srgbClr val="17202A"/>
                </a:solidFill>
                <a:latin typeface="Calibri" panose="020F0502020204030204"/>
              </a:rPr>
              <a:t>Antigens</a:t>
            </a:r>
            <a:endParaRPr sz="1200" b="1" i="0">
              <a:solidFill>
                <a:srgbClr val="17202A"/>
              </a:solidFill>
              <a:latin typeface="Calibri" panose="020F0502020204030204"/>
            </a:endParaRPr>
          </a:p>
        </p:txBody>
      </p:sp>
      <p:sp>
        <p:nvSpPr>
          <p:cNvPr id="23" name="TextBox 22"/>
          <p:cNvSpPr txBox="1"/>
          <p:nvPr/>
        </p:nvSpPr>
        <p:spPr>
          <a:xfrm>
            <a:off x="2678277" y="2542032"/>
            <a:ext cx="3168396" cy="275590"/>
          </a:xfrm>
          <a:prstGeom prst="rect">
            <a:avLst/>
          </a:prstGeom>
          <a:noFill/>
        </p:spPr>
        <p:txBody>
          <a:bodyPr wrap="square">
            <a:spAutoFit/>
          </a:bodyPr>
          <a:lstStyle/>
          <a:p>
            <a:pPr algn="l"/>
            <a:r>
              <a:rPr sz="1200" b="0" i="0">
                <a:solidFill>
                  <a:srgbClr val="17202A"/>
                </a:solidFill>
                <a:latin typeface="Calibri" panose="020F0502020204030204"/>
              </a:rPr>
              <a:t>7  (BCG, OPV, PENTA, PCV, ROTA, MCV, IPV)</a:t>
            </a:r>
            <a:endParaRPr sz="1200" b="0" i="0">
              <a:solidFill>
                <a:srgbClr val="17202A"/>
              </a:solidFill>
              <a:latin typeface="Calibri" panose="020F0502020204030204"/>
            </a:endParaRPr>
          </a:p>
        </p:txBody>
      </p:sp>
      <p:sp>
        <p:nvSpPr>
          <p:cNvPr id="24" name="Rectangle 23"/>
          <p:cNvSpPr/>
          <p:nvPr/>
        </p:nvSpPr>
        <p:spPr>
          <a:xfrm>
            <a:off x="201168" y="2935224"/>
            <a:ext cx="5760720" cy="42976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Rectangle 24"/>
          <p:cNvSpPr/>
          <p:nvPr/>
        </p:nvSpPr>
        <p:spPr>
          <a:xfrm>
            <a:off x="201168" y="2935224"/>
            <a:ext cx="5760720" cy="429768"/>
          </a:xfrm>
          <a:prstGeom prst="rect">
            <a:avLst/>
          </a:prstGeom>
          <a:solidFill>
            <a:srgbClr val="F2F3F4"/>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292608" y="2971800"/>
            <a:ext cx="2419502" cy="275590"/>
          </a:xfrm>
          <a:prstGeom prst="rect">
            <a:avLst/>
          </a:prstGeom>
          <a:noFill/>
        </p:spPr>
        <p:txBody>
          <a:bodyPr wrap="square">
            <a:spAutoFit/>
          </a:bodyPr>
          <a:lstStyle/>
          <a:p>
            <a:pPr algn="l"/>
            <a:r>
              <a:rPr sz="1200" b="1" i="0">
                <a:solidFill>
                  <a:srgbClr val="17202A"/>
                </a:solidFill>
                <a:latin typeface="Calibri" panose="020F0502020204030204"/>
              </a:rPr>
              <a:t>Time series</a:t>
            </a:r>
            <a:endParaRPr sz="1200" b="1" i="0">
              <a:solidFill>
                <a:srgbClr val="17202A"/>
              </a:solidFill>
              <a:latin typeface="Calibri" panose="020F0502020204030204"/>
            </a:endParaRPr>
          </a:p>
        </p:txBody>
      </p:sp>
      <p:sp>
        <p:nvSpPr>
          <p:cNvPr id="27" name="TextBox 26"/>
          <p:cNvSpPr txBox="1"/>
          <p:nvPr/>
        </p:nvSpPr>
        <p:spPr>
          <a:xfrm>
            <a:off x="2678277" y="2971800"/>
            <a:ext cx="3168396" cy="275590"/>
          </a:xfrm>
          <a:prstGeom prst="rect">
            <a:avLst/>
          </a:prstGeom>
          <a:noFill/>
        </p:spPr>
        <p:txBody>
          <a:bodyPr wrap="square">
            <a:spAutoFit/>
          </a:bodyPr>
          <a:lstStyle/>
          <a:p>
            <a:pPr algn="l"/>
            <a:r>
              <a:rPr sz="1200" b="0" i="0">
                <a:solidFill>
                  <a:srgbClr val="17202A"/>
                </a:solidFill>
                <a:latin typeface="Calibri" panose="020F0502020204030204"/>
              </a:rPr>
              <a:t>350  (50 facilities x 7 antigens)</a:t>
            </a:r>
            <a:endParaRPr sz="1200" b="0" i="0">
              <a:solidFill>
                <a:srgbClr val="17202A"/>
              </a:solidFill>
              <a:latin typeface="Calibri" panose="020F0502020204030204"/>
            </a:endParaRPr>
          </a:p>
        </p:txBody>
      </p:sp>
      <p:sp>
        <p:nvSpPr>
          <p:cNvPr id="28" name="Rectangle 27"/>
          <p:cNvSpPr/>
          <p:nvPr/>
        </p:nvSpPr>
        <p:spPr>
          <a:xfrm>
            <a:off x="201168" y="3364991"/>
            <a:ext cx="576072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ectangle 28"/>
          <p:cNvSpPr/>
          <p:nvPr/>
        </p:nvSpPr>
        <p:spPr>
          <a:xfrm>
            <a:off x="201168" y="3364991"/>
            <a:ext cx="5760720" cy="429768"/>
          </a:xfrm>
          <a:prstGeom prst="rect">
            <a:avLst/>
          </a:prstGeom>
          <a:solidFill>
            <a:srgbClr val="FFFFFF"/>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292608" y="3401568"/>
            <a:ext cx="2419502" cy="275590"/>
          </a:xfrm>
          <a:prstGeom prst="rect">
            <a:avLst/>
          </a:prstGeom>
          <a:noFill/>
        </p:spPr>
        <p:txBody>
          <a:bodyPr wrap="square">
            <a:spAutoFit/>
          </a:bodyPr>
          <a:lstStyle/>
          <a:p>
            <a:pPr algn="l"/>
            <a:r>
              <a:rPr sz="1200" b="1" i="0">
                <a:solidFill>
                  <a:srgbClr val="17202A"/>
                </a:solidFill>
                <a:latin typeface="Calibri" panose="020F0502020204030204"/>
              </a:rPr>
              <a:t>Stock ledger rows</a:t>
            </a:r>
            <a:endParaRPr sz="1200" b="1" i="0">
              <a:solidFill>
                <a:srgbClr val="17202A"/>
              </a:solidFill>
              <a:latin typeface="Calibri" panose="020F0502020204030204"/>
            </a:endParaRPr>
          </a:p>
        </p:txBody>
      </p:sp>
      <p:sp>
        <p:nvSpPr>
          <p:cNvPr id="31" name="TextBox 30"/>
          <p:cNvSpPr txBox="1"/>
          <p:nvPr/>
        </p:nvSpPr>
        <p:spPr>
          <a:xfrm>
            <a:off x="2678277" y="3401568"/>
            <a:ext cx="3168396" cy="275590"/>
          </a:xfrm>
          <a:prstGeom prst="rect">
            <a:avLst/>
          </a:prstGeom>
          <a:noFill/>
        </p:spPr>
        <p:txBody>
          <a:bodyPr wrap="square">
            <a:spAutoFit/>
          </a:bodyPr>
          <a:lstStyle/>
          <a:p>
            <a:pPr algn="l"/>
            <a:r>
              <a:rPr sz="1200" b="0" i="0">
                <a:solidFill>
                  <a:srgbClr val="17202A"/>
                </a:solidFill>
                <a:latin typeface="Calibri" panose="020F0502020204030204"/>
              </a:rPr>
              <a:t>127,400</a:t>
            </a:r>
            <a:endParaRPr sz="1200" b="0" i="0">
              <a:solidFill>
                <a:srgbClr val="17202A"/>
              </a:solidFill>
              <a:latin typeface="Calibri" panose="020F0502020204030204"/>
            </a:endParaRPr>
          </a:p>
        </p:txBody>
      </p:sp>
      <p:sp>
        <p:nvSpPr>
          <p:cNvPr id="32" name="Rectangle 31"/>
          <p:cNvSpPr/>
          <p:nvPr/>
        </p:nvSpPr>
        <p:spPr>
          <a:xfrm>
            <a:off x="201168" y="3794759"/>
            <a:ext cx="5760720" cy="42976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Rectangle 32"/>
          <p:cNvSpPr/>
          <p:nvPr/>
        </p:nvSpPr>
        <p:spPr>
          <a:xfrm>
            <a:off x="201168" y="3794759"/>
            <a:ext cx="5760720" cy="429768"/>
          </a:xfrm>
          <a:prstGeom prst="rect">
            <a:avLst/>
          </a:prstGeom>
          <a:solidFill>
            <a:srgbClr val="F2F3F4"/>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292608" y="3831335"/>
            <a:ext cx="2419502" cy="275590"/>
          </a:xfrm>
          <a:prstGeom prst="rect">
            <a:avLst/>
          </a:prstGeom>
          <a:noFill/>
        </p:spPr>
        <p:txBody>
          <a:bodyPr wrap="square">
            <a:spAutoFit/>
          </a:bodyPr>
          <a:lstStyle/>
          <a:p>
            <a:pPr algn="l"/>
            <a:r>
              <a:rPr sz="1200" b="1" i="0">
                <a:solidFill>
                  <a:srgbClr val="17202A"/>
                </a:solidFill>
                <a:latin typeface="Calibri" panose="020F0502020204030204"/>
              </a:rPr>
              <a:t>Shock events modelled</a:t>
            </a:r>
            <a:endParaRPr sz="1200" b="1" i="0">
              <a:solidFill>
                <a:srgbClr val="17202A"/>
              </a:solidFill>
              <a:latin typeface="Calibri" panose="020F0502020204030204"/>
            </a:endParaRPr>
          </a:p>
        </p:txBody>
      </p:sp>
      <p:sp>
        <p:nvSpPr>
          <p:cNvPr id="35" name="TextBox 34"/>
          <p:cNvSpPr txBox="1"/>
          <p:nvPr/>
        </p:nvSpPr>
        <p:spPr>
          <a:xfrm>
            <a:off x="2678430" y="3793490"/>
            <a:ext cx="3168650" cy="429895"/>
          </a:xfrm>
          <a:prstGeom prst="rect">
            <a:avLst/>
          </a:prstGeom>
          <a:noFill/>
        </p:spPr>
        <p:txBody>
          <a:bodyPr wrap="square">
            <a:noAutofit/>
          </a:bodyPr>
          <a:lstStyle/>
          <a:p>
            <a:pPr algn="l"/>
            <a:r>
              <a:rPr sz="1200" b="0" i="0">
                <a:solidFill>
                  <a:srgbClr val="17202A"/>
                </a:solidFill>
                <a:latin typeface="Calibri" panose="020F0502020204030204"/>
              </a:rPr>
              <a:t>Pandemic, Tigray &amp; Amhara conflicts, Measles SIAs,Polio SNIDs, rainy season, cold chain failures</a:t>
            </a:r>
            <a:endParaRPr sz="1200" b="0" i="0">
              <a:solidFill>
                <a:srgbClr val="17202A"/>
              </a:solidFill>
              <a:latin typeface="Calibri" panose="020F0502020204030204"/>
            </a:endParaRPr>
          </a:p>
        </p:txBody>
      </p:sp>
      <p:sp>
        <p:nvSpPr>
          <p:cNvPr id="36" name="Rectangle 35"/>
          <p:cNvSpPr/>
          <p:nvPr/>
        </p:nvSpPr>
        <p:spPr>
          <a:xfrm>
            <a:off x="201168" y="4224528"/>
            <a:ext cx="5760720"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Rectangle 36"/>
          <p:cNvSpPr/>
          <p:nvPr/>
        </p:nvSpPr>
        <p:spPr>
          <a:xfrm>
            <a:off x="201168" y="4224528"/>
            <a:ext cx="5760720" cy="429768"/>
          </a:xfrm>
          <a:prstGeom prst="rect">
            <a:avLst/>
          </a:prstGeom>
          <a:solidFill>
            <a:srgbClr val="FFFFFF"/>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292608" y="4261104"/>
            <a:ext cx="2419502" cy="275590"/>
          </a:xfrm>
          <a:prstGeom prst="rect">
            <a:avLst/>
          </a:prstGeom>
          <a:noFill/>
        </p:spPr>
        <p:txBody>
          <a:bodyPr wrap="square">
            <a:spAutoFit/>
          </a:bodyPr>
          <a:lstStyle/>
          <a:p>
            <a:pPr algn="l"/>
            <a:r>
              <a:rPr sz="1200" b="1" i="0">
                <a:solidFill>
                  <a:srgbClr val="17202A"/>
                </a:solidFill>
                <a:latin typeface="Calibri" panose="020F0502020204030204"/>
              </a:rPr>
              <a:t>Calibration basis</a:t>
            </a:r>
            <a:endParaRPr sz="1200" b="1" i="0">
              <a:solidFill>
                <a:srgbClr val="17202A"/>
              </a:solidFill>
              <a:latin typeface="Calibri" panose="020F0502020204030204"/>
            </a:endParaRPr>
          </a:p>
        </p:txBody>
      </p:sp>
      <p:sp>
        <p:nvSpPr>
          <p:cNvPr id="39" name="TextBox 38"/>
          <p:cNvSpPr txBox="1"/>
          <p:nvPr/>
        </p:nvSpPr>
        <p:spPr>
          <a:xfrm>
            <a:off x="2678277" y="4235704"/>
            <a:ext cx="3168396" cy="460375"/>
          </a:xfrm>
          <a:prstGeom prst="rect">
            <a:avLst/>
          </a:prstGeom>
          <a:noFill/>
        </p:spPr>
        <p:txBody>
          <a:bodyPr wrap="square">
            <a:spAutoFit/>
          </a:bodyPr>
          <a:lstStyle/>
          <a:p>
            <a:pPr algn="l"/>
            <a:r>
              <a:rPr sz="1200" b="0" i="0">
                <a:solidFill>
                  <a:srgbClr val="17202A"/>
                </a:solidFill>
                <a:latin typeface="Calibri" panose="020F0502020204030204"/>
              </a:rPr>
              <a:t>EMDHS 2019, WUENIC 2024, SARA 2018 survey ranges</a:t>
            </a:r>
            <a:endParaRPr sz="1200" b="0" i="0">
              <a:solidFill>
                <a:srgbClr val="17202A"/>
              </a:solidFill>
              <a:latin typeface="Calibri" panose="020F0502020204030204"/>
            </a:endParaRPr>
          </a:p>
        </p:txBody>
      </p:sp>
      <p:sp>
        <p:nvSpPr>
          <p:cNvPr id="40" name="Rectangle 39"/>
          <p:cNvSpPr/>
          <p:nvPr/>
        </p:nvSpPr>
        <p:spPr>
          <a:xfrm>
            <a:off x="201168" y="4654296"/>
            <a:ext cx="5760720" cy="429768"/>
          </a:xfrm>
          <a:prstGeom prst="rect">
            <a:avLst/>
          </a:prstGeom>
          <a:solidFill>
            <a:srgbClr val="F2F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Rectangle 40"/>
          <p:cNvSpPr/>
          <p:nvPr/>
        </p:nvSpPr>
        <p:spPr>
          <a:xfrm>
            <a:off x="201295" y="4660265"/>
            <a:ext cx="5760720" cy="490855"/>
          </a:xfrm>
          <a:prstGeom prst="rect">
            <a:avLst/>
          </a:prstGeom>
          <a:solidFill>
            <a:srgbClr val="F2F3F4"/>
          </a:solidFill>
          <a:ln w="9525">
            <a:solidFill>
              <a:srgbClr val="D0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292608" y="4690872"/>
            <a:ext cx="2419502" cy="275590"/>
          </a:xfrm>
          <a:prstGeom prst="rect">
            <a:avLst/>
          </a:prstGeom>
          <a:noFill/>
        </p:spPr>
        <p:txBody>
          <a:bodyPr wrap="square">
            <a:spAutoFit/>
          </a:bodyPr>
          <a:lstStyle/>
          <a:p>
            <a:pPr algn="l"/>
            <a:r>
              <a:rPr sz="1200" b="1" i="0">
                <a:solidFill>
                  <a:srgbClr val="17202A"/>
                </a:solidFill>
                <a:latin typeface="Calibri" panose="020F0502020204030204"/>
              </a:rPr>
              <a:t>Validation method</a:t>
            </a:r>
            <a:endParaRPr sz="1200" b="1" i="0">
              <a:solidFill>
                <a:srgbClr val="17202A"/>
              </a:solidFill>
              <a:latin typeface="Calibri" panose="020F0502020204030204"/>
            </a:endParaRPr>
          </a:p>
        </p:txBody>
      </p:sp>
      <p:sp>
        <p:nvSpPr>
          <p:cNvPr id="43" name="TextBox 42"/>
          <p:cNvSpPr txBox="1"/>
          <p:nvPr/>
        </p:nvSpPr>
        <p:spPr>
          <a:xfrm>
            <a:off x="2678277" y="4690872"/>
            <a:ext cx="3168396" cy="460375"/>
          </a:xfrm>
          <a:prstGeom prst="rect">
            <a:avLst/>
          </a:prstGeom>
          <a:noFill/>
        </p:spPr>
        <p:txBody>
          <a:bodyPr wrap="square">
            <a:spAutoFit/>
          </a:bodyPr>
          <a:lstStyle/>
          <a:p>
            <a:pPr algn="l"/>
            <a:r>
              <a:rPr sz="1200" b="0" i="0">
                <a:solidFill>
                  <a:srgbClr val="17202A"/>
                </a:solidFill>
                <a:latin typeface="Calibri" panose="020F0502020204030204"/>
              </a:rPr>
              <a:t>3-fold walk-forward CV  +  held-out final test
(weeks 340–364, evaluated once)</a:t>
            </a:r>
            <a:endParaRPr sz="1200" b="0" i="0">
              <a:solidFill>
                <a:srgbClr val="17202A"/>
              </a:solidFill>
              <a:latin typeface="Calibri" panose="020F0502020204030204"/>
            </a:endParaRPr>
          </a:p>
        </p:txBody>
      </p:sp>
      <p:sp>
        <p:nvSpPr>
          <p:cNvPr id="44" name="TextBox 43"/>
          <p:cNvSpPr txBox="1"/>
          <p:nvPr/>
        </p:nvSpPr>
        <p:spPr>
          <a:xfrm>
            <a:off x="201168" y="5221223"/>
            <a:ext cx="5760720" cy="521970"/>
          </a:xfrm>
          <a:prstGeom prst="rect">
            <a:avLst/>
          </a:prstGeom>
          <a:noFill/>
        </p:spPr>
        <p:txBody>
          <a:bodyPr wrap="square">
            <a:spAutoFit/>
          </a:bodyPr>
          <a:lstStyle/>
          <a:p>
            <a:pPr algn="l"/>
            <a:r>
              <a:rPr sz="1400" b="0" i="1">
                <a:solidFill>
                  <a:srgbClr val="717D7E"/>
                </a:solidFill>
                <a:latin typeface="Calibri" panose="020F0502020204030204"/>
              </a:rPr>
              <a:t>Synthetic dataset calibrated to match published tier-stratified stockout rates. Real deployment: connect to DHIS2 API and retrain monthly.</a:t>
            </a:r>
            <a:endParaRPr sz="1400" b="0" i="1">
              <a:solidFill>
                <a:srgbClr val="717D7E"/>
              </a:solidFill>
              <a:latin typeface="Calibri" panose="020F0502020204030204"/>
            </a:endParaRPr>
          </a:p>
        </p:txBody>
      </p:sp>
      <p:sp>
        <p:nvSpPr>
          <p:cNvPr id="45" name="TextBox 44"/>
          <p:cNvSpPr txBox="1"/>
          <p:nvPr/>
        </p:nvSpPr>
        <p:spPr>
          <a:xfrm>
            <a:off x="6263640" y="1724151"/>
            <a:ext cx="5760720" cy="306705"/>
          </a:xfrm>
          <a:prstGeom prst="rect">
            <a:avLst/>
          </a:prstGeom>
          <a:noFill/>
        </p:spPr>
        <p:txBody>
          <a:bodyPr wrap="square">
            <a:spAutoFit/>
          </a:bodyPr>
          <a:lstStyle/>
          <a:p>
            <a:pPr algn="l"/>
            <a:r>
              <a:rPr sz="1400" b="1" i="0">
                <a:solidFill>
                  <a:srgbClr val="1B4F72"/>
                </a:solidFill>
                <a:latin typeface="Calibri" panose="020F0502020204030204"/>
              </a:rPr>
              <a:t>Layer 1 — Base Models</a:t>
            </a:r>
            <a:endParaRPr sz="1400" b="1" i="0">
              <a:solidFill>
                <a:srgbClr val="1B4F72"/>
              </a:solidFill>
              <a:latin typeface="Calibri" panose="020F0502020204030204"/>
            </a:endParaRPr>
          </a:p>
        </p:txBody>
      </p:sp>
      <p:sp>
        <p:nvSpPr>
          <p:cNvPr id="46" name="Rectangle 45"/>
          <p:cNvSpPr/>
          <p:nvPr/>
        </p:nvSpPr>
        <p:spPr>
          <a:xfrm>
            <a:off x="6263640" y="1998472"/>
            <a:ext cx="1106424" cy="420624"/>
          </a:xfrm>
          <a:prstGeom prst="rect">
            <a:avLst/>
          </a:prstGeom>
          <a:solidFill>
            <a:srgbClr val="1A5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TextBox 46"/>
          <p:cNvSpPr txBox="1"/>
          <p:nvPr/>
        </p:nvSpPr>
        <p:spPr>
          <a:xfrm>
            <a:off x="6300216" y="2044192"/>
            <a:ext cx="1033272" cy="252730"/>
          </a:xfrm>
          <a:prstGeom prst="rect">
            <a:avLst/>
          </a:prstGeom>
          <a:noFill/>
        </p:spPr>
        <p:txBody>
          <a:bodyPr wrap="square">
            <a:spAutoFit/>
          </a:bodyPr>
          <a:lstStyle/>
          <a:p>
            <a:pPr algn="ctr"/>
            <a:r>
              <a:rPr sz="1050" b="1" i="0">
                <a:solidFill>
                  <a:srgbClr val="FFFFFF"/>
                </a:solidFill>
                <a:latin typeface="Calibri" panose="020F0502020204030204"/>
              </a:rPr>
              <a:t>Prophet</a:t>
            </a:r>
            <a:endParaRPr sz="1050" b="1" i="0">
              <a:solidFill>
                <a:srgbClr val="FFFFFF"/>
              </a:solidFill>
              <a:latin typeface="Calibri" panose="020F0502020204030204"/>
            </a:endParaRPr>
          </a:p>
        </p:txBody>
      </p:sp>
      <p:sp>
        <p:nvSpPr>
          <p:cNvPr id="48" name="Rectangle 47"/>
          <p:cNvSpPr/>
          <p:nvPr/>
        </p:nvSpPr>
        <p:spPr>
          <a:xfrm>
            <a:off x="7415783" y="1998472"/>
            <a:ext cx="1106424" cy="420624"/>
          </a:xfrm>
          <a:prstGeom prst="rect">
            <a:avLst/>
          </a:prstGeom>
          <a:solidFill>
            <a:srgbClr val="217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7452359" y="2044192"/>
            <a:ext cx="1033272" cy="252730"/>
          </a:xfrm>
          <a:prstGeom prst="rect">
            <a:avLst/>
          </a:prstGeom>
          <a:noFill/>
        </p:spPr>
        <p:txBody>
          <a:bodyPr wrap="square">
            <a:spAutoFit/>
          </a:bodyPr>
          <a:lstStyle/>
          <a:p>
            <a:pPr algn="ctr"/>
            <a:r>
              <a:rPr sz="1050" b="1" i="0">
                <a:solidFill>
                  <a:srgbClr val="FFFFFF"/>
                </a:solidFill>
                <a:latin typeface="Calibri" panose="020F0502020204030204"/>
              </a:rPr>
              <a:t>Holt-Winters</a:t>
            </a:r>
            <a:endParaRPr sz="1050" b="1" i="0">
              <a:solidFill>
                <a:srgbClr val="FFFFFF"/>
              </a:solidFill>
              <a:latin typeface="Calibri" panose="020F0502020204030204"/>
            </a:endParaRPr>
          </a:p>
        </p:txBody>
      </p:sp>
      <p:sp>
        <p:nvSpPr>
          <p:cNvPr id="50" name="Rectangle 49"/>
          <p:cNvSpPr/>
          <p:nvPr/>
        </p:nvSpPr>
        <p:spPr>
          <a:xfrm>
            <a:off x="8567928" y="1998472"/>
            <a:ext cx="1106424" cy="420624"/>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TextBox 50"/>
          <p:cNvSpPr txBox="1"/>
          <p:nvPr/>
        </p:nvSpPr>
        <p:spPr>
          <a:xfrm>
            <a:off x="8604504" y="2044192"/>
            <a:ext cx="1033272" cy="252730"/>
          </a:xfrm>
          <a:prstGeom prst="rect">
            <a:avLst/>
          </a:prstGeom>
          <a:noFill/>
        </p:spPr>
        <p:txBody>
          <a:bodyPr wrap="square">
            <a:spAutoFit/>
          </a:bodyPr>
          <a:lstStyle/>
          <a:p>
            <a:pPr algn="ctr"/>
            <a:r>
              <a:rPr sz="1050" b="1" i="0">
                <a:solidFill>
                  <a:srgbClr val="FFFFFF"/>
                </a:solidFill>
                <a:latin typeface="Calibri" panose="020F0502020204030204"/>
              </a:rPr>
              <a:t>Naive LV</a:t>
            </a:r>
            <a:endParaRPr sz="1050" b="1" i="0">
              <a:solidFill>
                <a:srgbClr val="FFFFFF"/>
              </a:solidFill>
              <a:latin typeface="Calibri" panose="020F0502020204030204"/>
            </a:endParaRPr>
          </a:p>
        </p:txBody>
      </p:sp>
      <p:sp>
        <p:nvSpPr>
          <p:cNvPr id="52" name="Rectangle 51"/>
          <p:cNvSpPr/>
          <p:nvPr/>
        </p:nvSpPr>
        <p:spPr>
          <a:xfrm>
            <a:off x="9720072" y="1998472"/>
            <a:ext cx="1106424" cy="42062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3" name="TextBox 52"/>
          <p:cNvSpPr txBox="1"/>
          <p:nvPr/>
        </p:nvSpPr>
        <p:spPr>
          <a:xfrm>
            <a:off x="9756648" y="2044192"/>
            <a:ext cx="1033272" cy="252730"/>
          </a:xfrm>
          <a:prstGeom prst="rect">
            <a:avLst/>
          </a:prstGeom>
          <a:noFill/>
        </p:spPr>
        <p:txBody>
          <a:bodyPr wrap="square">
            <a:spAutoFit/>
          </a:bodyPr>
          <a:lstStyle/>
          <a:p>
            <a:pPr algn="ctr"/>
            <a:r>
              <a:rPr sz="1050" b="1" i="0">
                <a:solidFill>
                  <a:srgbClr val="FFFFFF"/>
                </a:solidFill>
                <a:latin typeface="Calibri" panose="020F0502020204030204"/>
              </a:rPr>
              <a:t>Naive Seasonal</a:t>
            </a:r>
            <a:endParaRPr sz="1050" b="1" i="0">
              <a:solidFill>
                <a:srgbClr val="FFFFFF"/>
              </a:solidFill>
              <a:latin typeface="Calibri" panose="020F0502020204030204"/>
            </a:endParaRPr>
          </a:p>
        </p:txBody>
      </p:sp>
      <p:sp>
        <p:nvSpPr>
          <p:cNvPr id="54" name="Rectangle 53"/>
          <p:cNvSpPr/>
          <p:nvPr/>
        </p:nvSpPr>
        <p:spPr>
          <a:xfrm>
            <a:off x="10872216" y="1998472"/>
            <a:ext cx="1106424" cy="420624"/>
          </a:xfrm>
          <a:prstGeom prst="rect">
            <a:avLst/>
          </a:prstGeom>
          <a:solidFill>
            <a:srgbClr val="CA6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TextBox 54"/>
          <p:cNvSpPr txBox="1"/>
          <p:nvPr/>
        </p:nvSpPr>
        <p:spPr>
          <a:xfrm>
            <a:off x="10908792" y="2044192"/>
            <a:ext cx="1033272" cy="252730"/>
          </a:xfrm>
          <a:prstGeom prst="rect">
            <a:avLst/>
          </a:prstGeom>
          <a:noFill/>
        </p:spPr>
        <p:txBody>
          <a:bodyPr wrap="square">
            <a:spAutoFit/>
          </a:bodyPr>
          <a:lstStyle/>
          <a:p>
            <a:pPr algn="ctr"/>
            <a:r>
              <a:rPr sz="1050" b="1" i="0">
                <a:solidFill>
                  <a:srgbClr val="FFFFFF"/>
                </a:solidFill>
                <a:latin typeface="Calibri" panose="020F0502020204030204"/>
              </a:rPr>
              <a:t>XGBoost</a:t>
            </a:r>
            <a:endParaRPr sz="1050" b="1" i="0">
              <a:solidFill>
                <a:srgbClr val="FFFFFF"/>
              </a:solidFill>
              <a:latin typeface="Calibri" panose="020F0502020204030204"/>
            </a:endParaRPr>
          </a:p>
        </p:txBody>
      </p:sp>
      <p:sp>
        <p:nvSpPr>
          <p:cNvPr id="56" name="Rectangle 55"/>
          <p:cNvSpPr/>
          <p:nvPr/>
        </p:nvSpPr>
        <p:spPr>
          <a:xfrm>
            <a:off x="9098280" y="2523490"/>
            <a:ext cx="76200" cy="125095"/>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Rectangle 56"/>
          <p:cNvSpPr/>
          <p:nvPr/>
        </p:nvSpPr>
        <p:spPr>
          <a:xfrm>
            <a:off x="9051290" y="2643505"/>
            <a:ext cx="173990" cy="76200"/>
          </a:xfrm>
          <a:prstGeom prst="rect">
            <a:avLst/>
          </a:prstGeom>
          <a:solidFill>
            <a:srgbClr val="717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8" name="TextBox 57"/>
          <p:cNvSpPr txBox="1"/>
          <p:nvPr/>
        </p:nvSpPr>
        <p:spPr>
          <a:xfrm>
            <a:off x="6263640" y="2660650"/>
            <a:ext cx="5760720" cy="274320"/>
          </a:xfrm>
          <a:prstGeom prst="rect">
            <a:avLst/>
          </a:prstGeom>
          <a:noFill/>
        </p:spPr>
        <p:txBody>
          <a:bodyPr wrap="square">
            <a:noAutofit/>
          </a:bodyPr>
          <a:lstStyle/>
          <a:p>
            <a:pPr algn="l"/>
            <a:r>
              <a:rPr sz="1400" b="1" i="0">
                <a:solidFill>
                  <a:srgbClr val="1B4F72"/>
                </a:solidFill>
                <a:latin typeface="Calibri" panose="020F0502020204030204"/>
              </a:rPr>
              <a:t>Layer 2 —</a:t>
            </a:r>
            <a:r>
              <a:rPr lang="en-US" sz="1400" b="1" i="0">
                <a:solidFill>
                  <a:srgbClr val="1B4F72"/>
                </a:solidFill>
                <a:latin typeface="Calibri" panose="020F0502020204030204"/>
              </a:rPr>
              <a:t> Ensemble model</a:t>
            </a:r>
            <a:endParaRPr lang="en-US" sz="1400" b="1" i="0">
              <a:solidFill>
                <a:srgbClr val="1B4F72"/>
              </a:solidFill>
              <a:latin typeface="Calibri" panose="020F0502020204030204"/>
            </a:endParaRPr>
          </a:p>
        </p:txBody>
      </p:sp>
      <p:sp>
        <p:nvSpPr>
          <p:cNvPr id="59" name="Rectangle 58"/>
          <p:cNvSpPr/>
          <p:nvPr/>
        </p:nvSpPr>
        <p:spPr>
          <a:xfrm>
            <a:off x="6263640" y="2922905"/>
            <a:ext cx="5760720" cy="503555"/>
          </a:xfrm>
          <a:prstGeom prst="rect">
            <a:avLst/>
          </a:prstGeom>
          <a:solidFill>
            <a:srgbClr val="EA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accent1"/>
                </a:solidFill>
              </a:rPr>
              <a:t>Finds the best blend of the baseline models</a:t>
            </a:r>
            <a:endParaRPr lang="en-US">
              <a:solidFill>
                <a:schemeClr val="accent1"/>
              </a:solidFill>
            </a:endParaRPr>
          </a:p>
        </p:txBody>
      </p:sp>
      <p:sp>
        <p:nvSpPr>
          <p:cNvPr id="60" name="Rectangle 59"/>
          <p:cNvSpPr/>
          <p:nvPr/>
        </p:nvSpPr>
        <p:spPr>
          <a:xfrm>
            <a:off x="6263640" y="2922651"/>
            <a:ext cx="5760720" cy="4114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Rectangle 60"/>
          <p:cNvSpPr/>
          <p:nvPr/>
        </p:nvSpPr>
        <p:spPr>
          <a:xfrm>
            <a:off x="6263640" y="2928620"/>
            <a:ext cx="76200" cy="49784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Rectangle 69"/>
          <p:cNvSpPr/>
          <p:nvPr/>
        </p:nvSpPr>
        <p:spPr>
          <a:xfrm>
            <a:off x="6263640" y="3755897"/>
            <a:ext cx="1403604" cy="56692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1" name="TextBox 70"/>
          <p:cNvSpPr txBox="1"/>
          <p:nvPr/>
        </p:nvSpPr>
        <p:spPr>
          <a:xfrm>
            <a:off x="6300216" y="3774185"/>
            <a:ext cx="1330452" cy="237490"/>
          </a:xfrm>
          <a:prstGeom prst="rect">
            <a:avLst/>
          </a:prstGeom>
          <a:noFill/>
        </p:spPr>
        <p:txBody>
          <a:bodyPr wrap="square">
            <a:spAutoFit/>
          </a:bodyPr>
          <a:lstStyle/>
          <a:p>
            <a:pPr algn="ctr"/>
            <a:r>
              <a:rPr sz="950" b="1" i="0">
                <a:solidFill>
                  <a:srgbClr val="AAC9E8"/>
                </a:solidFill>
                <a:latin typeface="Calibri" panose="020F0502020204030204"/>
              </a:rPr>
              <a:t>MAE</a:t>
            </a:r>
            <a:endParaRPr sz="950" b="1" i="0">
              <a:solidFill>
                <a:srgbClr val="AAC9E8"/>
              </a:solidFill>
              <a:latin typeface="Calibri" panose="020F0502020204030204"/>
            </a:endParaRPr>
          </a:p>
        </p:txBody>
      </p:sp>
      <p:sp>
        <p:nvSpPr>
          <p:cNvPr id="72" name="TextBox 71"/>
          <p:cNvSpPr txBox="1"/>
          <p:nvPr/>
        </p:nvSpPr>
        <p:spPr>
          <a:xfrm>
            <a:off x="6300216" y="3975353"/>
            <a:ext cx="1330452" cy="275590"/>
          </a:xfrm>
          <a:prstGeom prst="rect">
            <a:avLst/>
          </a:prstGeom>
          <a:noFill/>
        </p:spPr>
        <p:txBody>
          <a:bodyPr wrap="square">
            <a:spAutoFit/>
          </a:bodyPr>
          <a:lstStyle/>
          <a:p>
            <a:pPr algn="ctr"/>
            <a:r>
              <a:rPr sz="1200" b="1" i="0">
                <a:solidFill>
                  <a:srgbClr val="FFFFFF"/>
                </a:solidFill>
                <a:latin typeface="Calibri" panose="020F0502020204030204"/>
              </a:rPr>
              <a:t>1</a:t>
            </a:r>
            <a:r>
              <a:rPr lang="en-US" sz="1200" b="1" i="0">
                <a:solidFill>
                  <a:srgbClr val="FFFFFF"/>
                </a:solidFill>
                <a:latin typeface="Calibri" panose="020F0502020204030204"/>
              </a:rPr>
              <a:t>1.65 </a:t>
            </a:r>
            <a:r>
              <a:rPr sz="1200" b="1" i="0">
                <a:solidFill>
                  <a:srgbClr val="FFFFFF"/>
                </a:solidFill>
                <a:latin typeface="Calibri" panose="020F0502020204030204"/>
              </a:rPr>
              <a:t>doses/wk</a:t>
            </a:r>
            <a:endParaRPr sz="1200" b="1" i="0">
              <a:solidFill>
                <a:srgbClr val="FFFFFF"/>
              </a:solidFill>
              <a:latin typeface="Calibri" panose="020F0502020204030204"/>
            </a:endParaRPr>
          </a:p>
        </p:txBody>
      </p:sp>
      <p:sp>
        <p:nvSpPr>
          <p:cNvPr id="73" name="Rectangle 72"/>
          <p:cNvSpPr/>
          <p:nvPr/>
        </p:nvSpPr>
        <p:spPr>
          <a:xfrm>
            <a:off x="7703820" y="3755897"/>
            <a:ext cx="1403604" cy="56692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4" name="TextBox 73"/>
          <p:cNvSpPr txBox="1"/>
          <p:nvPr/>
        </p:nvSpPr>
        <p:spPr>
          <a:xfrm>
            <a:off x="7740396" y="3774185"/>
            <a:ext cx="1330452" cy="237490"/>
          </a:xfrm>
          <a:prstGeom prst="rect">
            <a:avLst/>
          </a:prstGeom>
          <a:noFill/>
        </p:spPr>
        <p:txBody>
          <a:bodyPr wrap="square">
            <a:spAutoFit/>
          </a:bodyPr>
          <a:lstStyle/>
          <a:p>
            <a:pPr algn="ctr"/>
            <a:r>
              <a:rPr sz="950" b="1" i="0">
                <a:solidFill>
                  <a:srgbClr val="AAC9E8"/>
                </a:solidFill>
                <a:latin typeface="Calibri" panose="020F0502020204030204"/>
              </a:rPr>
              <a:t>SDR</a:t>
            </a:r>
            <a:endParaRPr sz="950" b="1" i="0">
              <a:solidFill>
                <a:srgbClr val="AAC9E8"/>
              </a:solidFill>
              <a:latin typeface="Calibri" panose="020F0502020204030204"/>
            </a:endParaRPr>
          </a:p>
        </p:txBody>
      </p:sp>
      <p:sp>
        <p:nvSpPr>
          <p:cNvPr id="75" name="TextBox 74"/>
          <p:cNvSpPr txBox="1"/>
          <p:nvPr/>
        </p:nvSpPr>
        <p:spPr>
          <a:xfrm>
            <a:off x="7740396" y="3975353"/>
            <a:ext cx="1330452" cy="306705"/>
          </a:xfrm>
          <a:prstGeom prst="rect">
            <a:avLst/>
          </a:prstGeom>
          <a:noFill/>
        </p:spPr>
        <p:txBody>
          <a:bodyPr wrap="square">
            <a:spAutoFit/>
          </a:bodyPr>
          <a:lstStyle/>
          <a:p>
            <a:pPr algn="ctr"/>
            <a:r>
              <a:rPr sz="1400" b="1" i="0">
                <a:solidFill>
                  <a:srgbClr val="FFFFFF"/>
                </a:solidFill>
                <a:latin typeface="Calibri" panose="020F0502020204030204"/>
              </a:rPr>
              <a:t>51%</a:t>
            </a:r>
            <a:endParaRPr sz="1400" b="1" i="0">
              <a:solidFill>
                <a:srgbClr val="FFFFFF"/>
              </a:solidFill>
              <a:latin typeface="Calibri" panose="020F0502020204030204"/>
            </a:endParaRPr>
          </a:p>
        </p:txBody>
      </p:sp>
      <p:sp>
        <p:nvSpPr>
          <p:cNvPr id="76" name="Rectangle 75"/>
          <p:cNvSpPr/>
          <p:nvPr/>
        </p:nvSpPr>
        <p:spPr>
          <a:xfrm>
            <a:off x="9144000" y="3755897"/>
            <a:ext cx="1403604" cy="56692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7" name="TextBox 76"/>
          <p:cNvSpPr txBox="1"/>
          <p:nvPr/>
        </p:nvSpPr>
        <p:spPr>
          <a:xfrm>
            <a:off x="9180576" y="3774185"/>
            <a:ext cx="1330452" cy="237490"/>
          </a:xfrm>
          <a:prstGeom prst="rect">
            <a:avLst/>
          </a:prstGeom>
          <a:noFill/>
        </p:spPr>
        <p:txBody>
          <a:bodyPr wrap="square">
            <a:spAutoFit/>
          </a:bodyPr>
          <a:lstStyle/>
          <a:p>
            <a:pPr algn="ctr"/>
            <a:r>
              <a:rPr sz="950" b="1" i="0">
                <a:solidFill>
                  <a:srgbClr val="AAC9E8"/>
                </a:solidFill>
                <a:latin typeface="Calibri" panose="020F0502020204030204"/>
              </a:rPr>
              <a:t>Coverage</a:t>
            </a:r>
            <a:endParaRPr sz="950" b="1" i="0">
              <a:solidFill>
                <a:srgbClr val="AAC9E8"/>
              </a:solidFill>
              <a:latin typeface="Calibri" panose="020F0502020204030204"/>
            </a:endParaRPr>
          </a:p>
        </p:txBody>
      </p:sp>
      <p:sp>
        <p:nvSpPr>
          <p:cNvPr id="78" name="TextBox 77"/>
          <p:cNvSpPr txBox="1"/>
          <p:nvPr/>
        </p:nvSpPr>
        <p:spPr>
          <a:xfrm>
            <a:off x="9180576" y="3975353"/>
            <a:ext cx="1330452" cy="306705"/>
          </a:xfrm>
          <a:prstGeom prst="rect">
            <a:avLst/>
          </a:prstGeom>
          <a:noFill/>
        </p:spPr>
        <p:txBody>
          <a:bodyPr wrap="square">
            <a:spAutoFit/>
          </a:bodyPr>
          <a:lstStyle/>
          <a:p>
            <a:pPr algn="ctr"/>
            <a:r>
              <a:rPr sz="1400" b="1" i="0">
                <a:solidFill>
                  <a:srgbClr val="FFFFFF"/>
                </a:solidFill>
                <a:latin typeface="Calibri" panose="020F0502020204030204"/>
              </a:rPr>
              <a:t>71%</a:t>
            </a:r>
            <a:endParaRPr sz="1400" b="1" i="0">
              <a:solidFill>
                <a:srgbClr val="FFFFFF"/>
              </a:solidFill>
              <a:latin typeface="Calibri" panose="020F0502020204030204"/>
            </a:endParaRPr>
          </a:p>
        </p:txBody>
      </p:sp>
      <p:sp>
        <p:nvSpPr>
          <p:cNvPr id="79" name="Rectangle 78"/>
          <p:cNvSpPr/>
          <p:nvPr/>
        </p:nvSpPr>
        <p:spPr>
          <a:xfrm>
            <a:off x="10584180" y="3755897"/>
            <a:ext cx="1403604" cy="56692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0" name="TextBox 79"/>
          <p:cNvSpPr txBox="1"/>
          <p:nvPr/>
        </p:nvSpPr>
        <p:spPr>
          <a:xfrm>
            <a:off x="10620755" y="3774185"/>
            <a:ext cx="1330452" cy="237490"/>
          </a:xfrm>
          <a:prstGeom prst="rect">
            <a:avLst/>
          </a:prstGeom>
          <a:noFill/>
        </p:spPr>
        <p:txBody>
          <a:bodyPr wrap="square">
            <a:spAutoFit/>
          </a:bodyPr>
          <a:lstStyle/>
          <a:p>
            <a:pPr algn="ctr"/>
            <a:r>
              <a:rPr sz="950" b="1" i="0">
                <a:solidFill>
                  <a:srgbClr val="AAC9E8"/>
                </a:solidFill>
                <a:latin typeface="Calibri" panose="020F0502020204030204"/>
              </a:rPr>
              <a:t>Horizon</a:t>
            </a:r>
            <a:endParaRPr sz="950" b="1" i="0">
              <a:solidFill>
                <a:srgbClr val="AAC9E8"/>
              </a:solidFill>
              <a:latin typeface="Calibri" panose="020F0502020204030204"/>
            </a:endParaRPr>
          </a:p>
        </p:txBody>
      </p:sp>
      <p:sp>
        <p:nvSpPr>
          <p:cNvPr id="81" name="TextBox 80"/>
          <p:cNvSpPr txBox="1"/>
          <p:nvPr/>
        </p:nvSpPr>
        <p:spPr>
          <a:xfrm>
            <a:off x="10620755" y="3975353"/>
            <a:ext cx="1330452" cy="306705"/>
          </a:xfrm>
          <a:prstGeom prst="rect">
            <a:avLst/>
          </a:prstGeom>
          <a:noFill/>
        </p:spPr>
        <p:txBody>
          <a:bodyPr wrap="square">
            <a:spAutoFit/>
          </a:bodyPr>
          <a:lstStyle/>
          <a:p>
            <a:pPr algn="ctr"/>
            <a:r>
              <a:rPr sz="1400" b="1" i="0">
                <a:solidFill>
                  <a:srgbClr val="FFFFFF"/>
                </a:solidFill>
                <a:latin typeface="Calibri" panose="020F0502020204030204"/>
              </a:rPr>
              <a:t>8 weeks</a:t>
            </a:r>
            <a:endParaRPr sz="1400" b="1" i="0">
              <a:solidFill>
                <a:srgbClr val="FFFFFF"/>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105156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105156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11823192" cy="960119"/>
          </a:xfrm>
          <a:prstGeom prst="rect">
            <a:avLst/>
          </a:prstGeom>
          <a:noFill/>
        </p:spPr>
        <p:txBody>
          <a:bodyPr wrap="square">
            <a:spAutoFit/>
          </a:bodyPr>
          <a:lstStyle/>
          <a:p>
            <a:pPr algn="l"/>
            <a:r>
              <a:rPr sz="2800" b="1" i="0">
                <a:solidFill>
                  <a:srgbClr val="FFFFFF"/>
                </a:solidFill>
                <a:latin typeface="Calibri" panose="020F0502020204030204"/>
              </a:rPr>
              <a:t>Evidence: What VaxAlert Changes at National Scale</a:t>
            </a:r>
            <a:endParaRPr sz="2800" b="1" i="0">
              <a:solidFill>
                <a:srgbClr val="FFFFFF"/>
              </a:solidFill>
              <a:latin typeface="Calibri" panose="020F0502020204030204"/>
            </a:endParaRPr>
          </a:p>
        </p:txBody>
      </p:sp>
      <p:sp>
        <p:nvSpPr>
          <p:cNvPr id="5" name="Rectangle 4"/>
          <p:cNvSpPr/>
          <p:nvPr/>
        </p:nvSpPr>
        <p:spPr>
          <a:xfrm>
            <a:off x="0" y="6565392"/>
            <a:ext cx="12188952" cy="292608"/>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6601968"/>
            <a:ext cx="11823192" cy="229870"/>
          </a:xfrm>
          <a:prstGeom prst="rect">
            <a:avLst/>
          </a:prstGeom>
          <a:noFill/>
        </p:spPr>
        <p:txBody>
          <a:bodyPr wrap="square">
            <a:spAutoFit/>
          </a:bodyPr>
          <a:lstStyle/>
          <a:p>
            <a:pPr algn="l"/>
            <a:r>
              <a:rPr sz="900" b="0" i="0">
                <a:solidFill>
                  <a:srgbClr val="FFFFFF"/>
                </a:solidFill>
                <a:latin typeface="Calibri" panose="020F0502020204030204"/>
              </a:rPr>
              <a:t>VaxAlert  |  2026</a:t>
            </a:r>
            <a:endParaRPr sz="900" b="0" i="0">
              <a:solidFill>
                <a:srgbClr val="FFFFFF"/>
              </a:solidFill>
              <a:latin typeface="Calibri" panose="020F0502020204030204"/>
            </a:endParaRPr>
          </a:p>
        </p:txBody>
      </p:sp>
      <p:sp>
        <p:nvSpPr>
          <p:cNvPr id="7" name="Rectangle 6"/>
          <p:cNvSpPr/>
          <p:nvPr/>
        </p:nvSpPr>
        <p:spPr>
          <a:xfrm>
            <a:off x="0" y="1051560"/>
            <a:ext cx="64008" cy="5513831"/>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 y="1051560"/>
            <a:ext cx="12124944" cy="55138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 y="1161288"/>
            <a:ext cx="12124944" cy="822960"/>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 y="1161288"/>
            <a:ext cx="12124944" cy="4572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197864"/>
            <a:ext cx="11868912" cy="429895"/>
          </a:xfrm>
          <a:prstGeom prst="rect">
            <a:avLst/>
          </a:prstGeom>
          <a:noFill/>
        </p:spPr>
        <p:txBody>
          <a:bodyPr wrap="square">
            <a:spAutoFit/>
          </a:bodyPr>
          <a:lstStyle/>
          <a:p>
            <a:pPr algn="ctr"/>
            <a:r>
              <a:rPr sz="2200" b="1" i="0">
                <a:solidFill>
                  <a:srgbClr val="1E8B4C"/>
                </a:solidFill>
                <a:latin typeface="Calibri" panose="020F0502020204030204"/>
              </a:rPr>
              <a:t>~</a:t>
            </a:r>
            <a:r>
              <a:rPr lang="en-US" sz="2200" b="1" i="0">
                <a:solidFill>
                  <a:srgbClr val="1E8B4C"/>
                </a:solidFill>
                <a:latin typeface="Calibri" panose="020F0502020204030204"/>
              </a:rPr>
              <a:t>2</a:t>
            </a:r>
            <a:r>
              <a:rPr sz="2200" b="1" i="0">
                <a:solidFill>
                  <a:srgbClr val="1E8B4C"/>
                </a:solidFill>
                <a:latin typeface="Calibri" panose="020F0502020204030204"/>
              </a:rPr>
              <a:t> Million Additional Children Vaccinated Per Year</a:t>
            </a:r>
            <a:endParaRPr sz="2200" b="1" i="0">
              <a:solidFill>
                <a:srgbClr val="1E8B4C"/>
              </a:solidFill>
              <a:latin typeface="Calibri" panose="020F0502020204030204"/>
            </a:endParaRPr>
          </a:p>
        </p:txBody>
      </p:sp>
      <p:sp>
        <p:nvSpPr>
          <p:cNvPr id="12" name="TextBox 11"/>
          <p:cNvSpPr txBox="1"/>
          <p:nvPr/>
        </p:nvSpPr>
        <p:spPr>
          <a:xfrm>
            <a:off x="228600" y="1581912"/>
            <a:ext cx="11868912" cy="329184"/>
          </a:xfrm>
          <a:prstGeom prst="rect">
            <a:avLst/>
          </a:prstGeom>
          <a:noFill/>
        </p:spPr>
        <p:txBody>
          <a:bodyPr wrap="square">
            <a:spAutoFit/>
          </a:bodyPr>
          <a:lstStyle/>
          <a:p>
            <a:pPr algn="ctr"/>
            <a:r>
              <a:rPr sz="1100" b="0" i="1">
                <a:solidFill>
                  <a:srgbClr val="0B5E2E"/>
                </a:solidFill>
                <a:latin typeface="Calibri" panose="020F0502020204030204"/>
              </a:rPr>
              <a:t>if deployed across Ethiopia's 19,549 public EPI facilities  (scale factor: 391x our 50-facility simulation)</a:t>
            </a:r>
            <a:endParaRPr sz="1100" b="0" i="1">
              <a:solidFill>
                <a:srgbClr val="0B5E2E"/>
              </a:solidFill>
              <a:latin typeface="Calibri" panose="020F0502020204030204"/>
            </a:endParaRPr>
          </a:p>
        </p:txBody>
      </p:sp>
      <p:sp>
        <p:nvSpPr>
          <p:cNvPr id="13" name="Rectangle 12"/>
          <p:cNvSpPr/>
          <p:nvPr/>
        </p:nvSpPr>
        <p:spPr>
          <a:xfrm>
            <a:off x="228600" y="2148840"/>
            <a:ext cx="3767328" cy="1481328"/>
          </a:xfrm>
          <a:prstGeom prst="rect">
            <a:avLst/>
          </a:prstGeom>
          <a:solidFill>
            <a:srgbClr val="F9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2148840"/>
            <a:ext cx="3767328" cy="5029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2148840"/>
            <a:ext cx="50292" cy="14813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 y="2221992"/>
            <a:ext cx="3602736" cy="292608"/>
          </a:xfrm>
          <a:prstGeom prst="rect">
            <a:avLst/>
          </a:prstGeom>
          <a:noFill/>
        </p:spPr>
        <p:txBody>
          <a:bodyPr wrap="square">
            <a:spAutoFit/>
          </a:bodyPr>
          <a:lstStyle/>
          <a:p>
            <a:pPr algn="l"/>
            <a:r>
              <a:rPr sz="1000" b="1" i="0">
                <a:solidFill>
                  <a:srgbClr val="C0392B"/>
                </a:solidFill>
                <a:latin typeface="Calibri" panose="020F0502020204030204"/>
              </a:rPr>
              <a:t>Stockout Rate</a:t>
            </a:r>
            <a:endParaRPr sz="1000" b="1" i="0">
              <a:solidFill>
                <a:srgbClr val="C0392B"/>
              </a:solidFill>
              <a:latin typeface="Calibri" panose="020F0502020204030204"/>
            </a:endParaRPr>
          </a:p>
        </p:txBody>
      </p:sp>
      <p:sp>
        <p:nvSpPr>
          <p:cNvPr id="17" name="TextBox 16"/>
          <p:cNvSpPr txBox="1"/>
          <p:nvPr/>
        </p:nvSpPr>
        <p:spPr>
          <a:xfrm>
            <a:off x="338328" y="2514600"/>
            <a:ext cx="3602736" cy="368300"/>
          </a:xfrm>
          <a:prstGeom prst="rect">
            <a:avLst/>
          </a:prstGeom>
          <a:noFill/>
        </p:spPr>
        <p:txBody>
          <a:bodyPr wrap="square">
            <a:spAutoFit/>
          </a:bodyPr>
          <a:lstStyle/>
          <a:p>
            <a:pPr algn="l"/>
            <a:r>
              <a:rPr sz="1800" b="1" i="0">
                <a:solidFill>
                  <a:srgbClr val="17202A"/>
                </a:solidFill>
                <a:latin typeface="Calibri" panose="020F0502020204030204"/>
              </a:rPr>
              <a:t>14.6%  →  </a:t>
            </a:r>
            <a:r>
              <a:rPr lang="en-US" sz="1800" b="1" i="0">
                <a:solidFill>
                  <a:srgbClr val="17202A"/>
                </a:solidFill>
                <a:latin typeface="Calibri" panose="020F0502020204030204"/>
              </a:rPr>
              <a:t>6.9</a:t>
            </a:r>
            <a:r>
              <a:rPr sz="1800" b="1" i="0">
                <a:solidFill>
                  <a:srgbClr val="17202A"/>
                </a:solidFill>
                <a:latin typeface="Calibri" panose="020F0502020204030204"/>
              </a:rPr>
              <a:t>%</a:t>
            </a:r>
            <a:endParaRPr sz="1800" b="1" i="0">
              <a:solidFill>
                <a:srgbClr val="17202A"/>
              </a:solidFill>
              <a:latin typeface="Calibri" panose="020F0502020204030204"/>
            </a:endParaRPr>
          </a:p>
        </p:txBody>
      </p:sp>
      <p:sp>
        <p:nvSpPr>
          <p:cNvPr id="18" name="TextBox 17"/>
          <p:cNvSpPr txBox="1"/>
          <p:nvPr/>
        </p:nvSpPr>
        <p:spPr>
          <a:xfrm>
            <a:off x="338328" y="3017520"/>
            <a:ext cx="3602736" cy="460375"/>
          </a:xfrm>
          <a:prstGeom prst="rect">
            <a:avLst/>
          </a:prstGeom>
          <a:noFill/>
        </p:spPr>
        <p:txBody>
          <a:bodyPr wrap="square">
            <a:spAutoFit/>
          </a:bodyPr>
          <a:lstStyle/>
          <a:p>
            <a:pPr algn="l"/>
            <a:r>
              <a:rPr sz="1200" b="0" i="0">
                <a:solidFill>
                  <a:srgbClr val="17202A"/>
                </a:solidFill>
                <a:latin typeface="Calibri" panose="020F0502020204030204"/>
              </a:rPr>
              <a:t>44% relative reduction
across all facility tiers</a:t>
            </a:r>
            <a:endParaRPr sz="1200" b="0" i="0">
              <a:solidFill>
                <a:srgbClr val="17202A"/>
              </a:solidFill>
              <a:latin typeface="Calibri" panose="020F0502020204030204"/>
            </a:endParaRPr>
          </a:p>
        </p:txBody>
      </p:sp>
      <p:sp>
        <p:nvSpPr>
          <p:cNvPr id="19" name="Rectangle 18"/>
          <p:cNvSpPr/>
          <p:nvPr/>
        </p:nvSpPr>
        <p:spPr>
          <a:xfrm>
            <a:off x="4123944" y="2148840"/>
            <a:ext cx="3767328" cy="1481328"/>
          </a:xfrm>
          <a:prstGeom prst="rect">
            <a:avLst/>
          </a:prstGeom>
          <a:solidFill>
            <a:srgbClr val="FDF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23944" y="2148840"/>
            <a:ext cx="3767328" cy="50292"/>
          </a:xfrm>
          <a:prstGeom prst="rect">
            <a:avLst/>
          </a:prstGeom>
          <a:solidFill>
            <a:srgbClr val="CA6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23944" y="2148840"/>
            <a:ext cx="50292" cy="1481328"/>
          </a:xfrm>
          <a:prstGeom prst="rect">
            <a:avLst/>
          </a:prstGeom>
          <a:solidFill>
            <a:srgbClr val="CA6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2221992"/>
            <a:ext cx="3602736" cy="292608"/>
          </a:xfrm>
          <a:prstGeom prst="rect">
            <a:avLst/>
          </a:prstGeom>
          <a:noFill/>
        </p:spPr>
        <p:txBody>
          <a:bodyPr wrap="square">
            <a:spAutoFit/>
          </a:bodyPr>
          <a:lstStyle/>
          <a:p>
            <a:pPr algn="l"/>
            <a:r>
              <a:rPr sz="1000" b="1" i="0">
                <a:solidFill>
                  <a:srgbClr val="CA6F1E"/>
                </a:solidFill>
                <a:latin typeface="Calibri" panose="020F0502020204030204"/>
              </a:rPr>
              <a:t>Stockout Weeks Averted</a:t>
            </a:r>
            <a:endParaRPr sz="1000" b="1" i="0">
              <a:solidFill>
                <a:srgbClr val="CA6F1E"/>
              </a:solidFill>
              <a:latin typeface="Calibri" panose="020F0502020204030204"/>
            </a:endParaRPr>
          </a:p>
        </p:txBody>
      </p:sp>
      <p:sp>
        <p:nvSpPr>
          <p:cNvPr id="23" name="TextBox 22"/>
          <p:cNvSpPr txBox="1"/>
          <p:nvPr/>
        </p:nvSpPr>
        <p:spPr>
          <a:xfrm>
            <a:off x="4233672" y="2514600"/>
            <a:ext cx="3602736" cy="368300"/>
          </a:xfrm>
          <a:prstGeom prst="rect">
            <a:avLst/>
          </a:prstGeom>
          <a:noFill/>
        </p:spPr>
        <p:txBody>
          <a:bodyPr wrap="square">
            <a:spAutoFit/>
          </a:bodyPr>
          <a:lstStyle/>
          <a:p>
            <a:pPr algn="l"/>
            <a:r>
              <a:rPr sz="1800" b="1" i="0">
                <a:solidFill>
                  <a:srgbClr val="17202A"/>
                </a:solidFill>
                <a:latin typeface="Calibri" panose="020F0502020204030204"/>
              </a:rPr>
              <a:t>~4,</a:t>
            </a:r>
            <a:r>
              <a:rPr lang="en-US" sz="1800" b="1" i="0">
                <a:solidFill>
                  <a:srgbClr val="17202A"/>
                </a:solidFill>
                <a:latin typeface="Calibri" panose="020F0502020204030204"/>
              </a:rPr>
              <a:t>563</a:t>
            </a:r>
            <a:r>
              <a:rPr sz="1800" b="1" i="0">
                <a:solidFill>
                  <a:srgbClr val="17202A"/>
                </a:solidFill>
                <a:latin typeface="Calibri" panose="020F0502020204030204"/>
              </a:rPr>
              <a:t> / year</a:t>
            </a:r>
            <a:endParaRPr sz="1800" b="1" i="0">
              <a:solidFill>
                <a:srgbClr val="17202A"/>
              </a:solidFill>
              <a:latin typeface="Calibri" panose="020F0502020204030204"/>
            </a:endParaRPr>
          </a:p>
        </p:txBody>
      </p:sp>
      <p:sp>
        <p:nvSpPr>
          <p:cNvPr id="24" name="TextBox 23"/>
          <p:cNvSpPr txBox="1"/>
          <p:nvPr/>
        </p:nvSpPr>
        <p:spPr>
          <a:xfrm>
            <a:off x="4233672" y="3017520"/>
            <a:ext cx="3602736" cy="460375"/>
          </a:xfrm>
          <a:prstGeom prst="rect">
            <a:avLst/>
          </a:prstGeom>
          <a:noFill/>
        </p:spPr>
        <p:txBody>
          <a:bodyPr wrap="square">
            <a:spAutoFit/>
          </a:bodyPr>
          <a:lstStyle/>
          <a:p>
            <a:pPr algn="l"/>
            <a:r>
              <a:rPr sz="1200" b="0" i="0">
                <a:solidFill>
                  <a:srgbClr val="17202A"/>
                </a:solidFill>
                <a:latin typeface="Calibri" panose="020F0502020204030204"/>
              </a:rPr>
              <a:t>in 50-facility simulation
× 391x  →  ~</a:t>
            </a:r>
            <a:r>
              <a:rPr lang="en-US" sz="1200" b="0" i="0">
                <a:solidFill>
                  <a:srgbClr val="17202A"/>
                </a:solidFill>
                <a:latin typeface="Calibri" panose="020F0502020204030204"/>
              </a:rPr>
              <a:t>2</a:t>
            </a:r>
            <a:r>
              <a:rPr sz="1200" b="0" i="0">
                <a:solidFill>
                  <a:srgbClr val="17202A"/>
                </a:solidFill>
                <a:latin typeface="Calibri" panose="020F0502020204030204"/>
              </a:rPr>
              <a:t> million nationally</a:t>
            </a:r>
            <a:endParaRPr sz="1200" b="0" i="0">
              <a:solidFill>
                <a:srgbClr val="17202A"/>
              </a:solidFill>
              <a:latin typeface="Calibri" panose="020F0502020204030204"/>
            </a:endParaRPr>
          </a:p>
        </p:txBody>
      </p:sp>
      <p:sp>
        <p:nvSpPr>
          <p:cNvPr id="25" name="Rectangle 24"/>
          <p:cNvSpPr/>
          <p:nvPr/>
        </p:nvSpPr>
        <p:spPr>
          <a:xfrm>
            <a:off x="8019288" y="2148840"/>
            <a:ext cx="3767328" cy="148132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19288" y="2148840"/>
            <a:ext cx="3767328" cy="5029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9288" y="2148840"/>
            <a:ext cx="50292" cy="148132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29015" y="2221992"/>
            <a:ext cx="3602736" cy="292608"/>
          </a:xfrm>
          <a:prstGeom prst="rect">
            <a:avLst/>
          </a:prstGeom>
          <a:noFill/>
        </p:spPr>
        <p:txBody>
          <a:bodyPr wrap="square">
            <a:spAutoFit/>
          </a:bodyPr>
          <a:lstStyle/>
          <a:p>
            <a:pPr algn="l"/>
            <a:r>
              <a:rPr sz="1000" b="1" i="0">
                <a:solidFill>
                  <a:srgbClr val="1E8B4C"/>
                </a:solidFill>
                <a:latin typeface="Calibri" panose="020F0502020204030204"/>
              </a:rPr>
              <a:t>Early Warning Lead Time</a:t>
            </a:r>
            <a:endParaRPr sz="1000" b="1" i="0">
              <a:solidFill>
                <a:srgbClr val="1E8B4C"/>
              </a:solidFill>
              <a:latin typeface="Calibri" panose="020F0502020204030204"/>
            </a:endParaRPr>
          </a:p>
        </p:txBody>
      </p:sp>
      <p:sp>
        <p:nvSpPr>
          <p:cNvPr id="29" name="TextBox 28"/>
          <p:cNvSpPr txBox="1"/>
          <p:nvPr/>
        </p:nvSpPr>
        <p:spPr>
          <a:xfrm>
            <a:off x="8129015" y="2514600"/>
            <a:ext cx="3602736" cy="502920"/>
          </a:xfrm>
          <a:prstGeom prst="rect">
            <a:avLst/>
          </a:prstGeom>
          <a:noFill/>
        </p:spPr>
        <p:txBody>
          <a:bodyPr wrap="square">
            <a:spAutoFit/>
          </a:bodyPr>
          <a:lstStyle/>
          <a:p>
            <a:pPr algn="l"/>
            <a:r>
              <a:rPr sz="1800" b="1" i="0">
                <a:solidFill>
                  <a:srgbClr val="17202A"/>
                </a:solidFill>
                <a:latin typeface="Calibri" panose="020F0502020204030204"/>
              </a:rPr>
              <a:t>2 – 3 weeks</a:t>
            </a:r>
            <a:endParaRPr sz="1800" b="1" i="0">
              <a:solidFill>
                <a:srgbClr val="17202A"/>
              </a:solidFill>
              <a:latin typeface="Calibri" panose="020F0502020204030204"/>
            </a:endParaRPr>
          </a:p>
        </p:txBody>
      </p:sp>
      <p:sp>
        <p:nvSpPr>
          <p:cNvPr id="30" name="TextBox 29"/>
          <p:cNvSpPr txBox="1"/>
          <p:nvPr/>
        </p:nvSpPr>
        <p:spPr>
          <a:xfrm>
            <a:off x="8129015" y="3017520"/>
            <a:ext cx="3602736" cy="460375"/>
          </a:xfrm>
          <a:prstGeom prst="rect">
            <a:avLst/>
          </a:prstGeom>
          <a:noFill/>
        </p:spPr>
        <p:txBody>
          <a:bodyPr wrap="square">
            <a:spAutoFit/>
          </a:bodyPr>
          <a:lstStyle/>
          <a:p>
            <a:pPr algn="l"/>
            <a:r>
              <a:rPr sz="1200" b="0" i="0">
                <a:solidFill>
                  <a:srgbClr val="17202A"/>
                </a:solidFill>
                <a:latin typeface="Calibri" panose="020F0502020204030204"/>
              </a:rPr>
              <a:t>average advance notice
before actual stockout occurs</a:t>
            </a:r>
            <a:endParaRPr sz="1200" b="0" i="0">
              <a:solidFill>
                <a:srgbClr val="17202A"/>
              </a:solidFill>
              <a:latin typeface="Calibri" panose="020F0502020204030204"/>
            </a:endParaRPr>
          </a:p>
        </p:txBody>
      </p:sp>
      <p:sp>
        <p:nvSpPr>
          <p:cNvPr id="31" name="TextBox 30"/>
          <p:cNvSpPr txBox="1"/>
          <p:nvPr/>
        </p:nvSpPr>
        <p:spPr>
          <a:xfrm>
            <a:off x="137160" y="3831336"/>
            <a:ext cx="1463040" cy="2075687"/>
          </a:xfrm>
          <a:prstGeom prst="rect">
            <a:avLst/>
          </a:prstGeom>
          <a:noFill/>
        </p:spPr>
        <p:txBody>
          <a:bodyPr wrap="square">
            <a:spAutoFit/>
          </a:bodyPr>
          <a:lstStyle/>
          <a:p>
            <a:pPr algn="r"/>
            <a:r>
              <a:rPr sz="900" b="0" i="1">
                <a:solidFill>
                  <a:srgbClr val="717D7E"/>
                </a:solidFill>
                <a:latin typeface="Calibri" panose="020F0502020204030204"/>
              </a:rPr>
              <a:t>Stockout Rate (%)
Before vs. After VaxAlert
by Access Tier</a:t>
            </a:r>
            <a:endParaRPr sz="900" b="0" i="1">
              <a:solidFill>
                <a:srgbClr val="717D7E"/>
              </a:solidFill>
              <a:latin typeface="Calibri" panose="020F0502020204030204"/>
            </a:endParaRPr>
          </a:p>
        </p:txBody>
      </p:sp>
      <p:sp>
        <p:nvSpPr>
          <p:cNvPr id="32" name="Rectangle 31"/>
          <p:cNvSpPr/>
          <p:nvPr/>
        </p:nvSpPr>
        <p:spPr>
          <a:xfrm>
            <a:off x="8778240" y="3831336"/>
            <a:ext cx="256032" cy="16459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0848" y="3822192"/>
            <a:ext cx="1371600" cy="201168"/>
          </a:xfrm>
          <a:prstGeom prst="rect">
            <a:avLst/>
          </a:prstGeom>
          <a:noFill/>
        </p:spPr>
        <p:txBody>
          <a:bodyPr wrap="square">
            <a:spAutoFit/>
          </a:bodyPr>
          <a:lstStyle/>
          <a:p>
            <a:pPr algn="l"/>
            <a:r>
              <a:rPr sz="900" b="0" i="0">
                <a:solidFill>
                  <a:srgbClr val="17202A"/>
                </a:solidFill>
                <a:latin typeface="Calibri" panose="020F0502020204030204"/>
              </a:rPr>
              <a:t>Baseline (no VaxAlert)</a:t>
            </a:r>
            <a:endParaRPr sz="900" b="0" i="0">
              <a:solidFill>
                <a:srgbClr val="17202A"/>
              </a:solidFill>
              <a:latin typeface="Calibri" panose="020F0502020204030204"/>
            </a:endParaRPr>
          </a:p>
        </p:txBody>
      </p:sp>
      <p:sp>
        <p:nvSpPr>
          <p:cNvPr id="34" name="Rectangle 33"/>
          <p:cNvSpPr/>
          <p:nvPr/>
        </p:nvSpPr>
        <p:spPr>
          <a:xfrm>
            <a:off x="8778240" y="4069080"/>
            <a:ext cx="256032" cy="16459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70848" y="4059936"/>
            <a:ext cx="1371600" cy="201168"/>
          </a:xfrm>
          <a:prstGeom prst="rect">
            <a:avLst/>
          </a:prstGeom>
          <a:noFill/>
        </p:spPr>
        <p:txBody>
          <a:bodyPr wrap="square">
            <a:spAutoFit/>
          </a:bodyPr>
          <a:lstStyle/>
          <a:p>
            <a:pPr algn="l"/>
            <a:r>
              <a:rPr sz="900" b="0" i="0">
                <a:solidFill>
                  <a:srgbClr val="17202A"/>
                </a:solidFill>
                <a:latin typeface="Calibri" panose="020F0502020204030204"/>
              </a:rPr>
              <a:t>With VaxAlert</a:t>
            </a:r>
            <a:endParaRPr sz="900" b="0" i="0">
              <a:solidFill>
                <a:srgbClr val="17202A"/>
              </a:solidFill>
              <a:latin typeface="Calibri" panose="020F0502020204030204"/>
            </a:endParaRPr>
          </a:p>
        </p:txBody>
      </p:sp>
      <p:sp>
        <p:nvSpPr>
          <p:cNvPr id="36" name="Rectangle 35"/>
          <p:cNvSpPr/>
          <p:nvPr/>
        </p:nvSpPr>
        <p:spPr>
          <a:xfrm>
            <a:off x="1737360" y="4154220"/>
            <a:ext cx="658368" cy="1752803"/>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37360" y="3953052"/>
            <a:ext cx="658368" cy="201168"/>
          </a:xfrm>
          <a:prstGeom prst="rect">
            <a:avLst/>
          </a:prstGeom>
          <a:noFill/>
        </p:spPr>
        <p:txBody>
          <a:bodyPr wrap="square">
            <a:spAutoFit/>
          </a:bodyPr>
          <a:lstStyle/>
          <a:p>
            <a:pPr algn="ctr"/>
            <a:r>
              <a:rPr sz="900" b="1" i="0">
                <a:solidFill>
                  <a:srgbClr val="C0392B"/>
                </a:solidFill>
                <a:latin typeface="Calibri" panose="020F0502020204030204"/>
              </a:rPr>
              <a:t>38%</a:t>
            </a:r>
            <a:endParaRPr sz="900" b="1" i="0">
              <a:solidFill>
                <a:srgbClr val="C0392B"/>
              </a:solidFill>
              <a:latin typeface="Calibri" panose="020F0502020204030204"/>
            </a:endParaRPr>
          </a:p>
        </p:txBody>
      </p:sp>
      <p:sp>
        <p:nvSpPr>
          <p:cNvPr id="38" name="Rectangle 37"/>
          <p:cNvSpPr/>
          <p:nvPr/>
        </p:nvSpPr>
        <p:spPr>
          <a:xfrm>
            <a:off x="2560320" y="4924531"/>
            <a:ext cx="658368" cy="982492"/>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60320" y="4723363"/>
            <a:ext cx="658368" cy="201168"/>
          </a:xfrm>
          <a:prstGeom prst="rect">
            <a:avLst/>
          </a:prstGeom>
          <a:noFill/>
        </p:spPr>
        <p:txBody>
          <a:bodyPr wrap="square">
            <a:spAutoFit/>
          </a:bodyPr>
          <a:lstStyle/>
          <a:p>
            <a:pPr algn="ctr"/>
            <a:r>
              <a:rPr sz="900" b="1" i="0">
                <a:solidFill>
                  <a:srgbClr val="1E8B4C"/>
                </a:solidFill>
                <a:latin typeface="Calibri" panose="020F0502020204030204"/>
              </a:rPr>
              <a:t>21%</a:t>
            </a:r>
            <a:endParaRPr sz="900" b="1" i="0">
              <a:solidFill>
                <a:srgbClr val="1E8B4C"/>
              </a:solidFill>
              <a:latin typeface="Calibri" panose="020F0502020204030204"/>
            </a:endParaRPr>
          </a:p>
        </p:txBody>
      </p:sp>
      <p:sp>
        <p:nvSpPr>
          <p:cNvPr id="40" name="TextBox 39"/>
          <p:cNvSpPr txBox="1"/>
          <p:nvPr/>
        </p:nvSpPr>
        <p:spPr>
          <a:xfrm>
            <a:off x="1691639" y="5943600"/>
            <a:ext cx="1572768" cy="256032"/>
          </a:xfrm>
          <a:prstGeom prst="rect">
            <a:avLst/>
          </a:prstGeom>
          <a:noFill/>
        </p:spPr>
        <p:txBody>
          <a:bodyPr wrap="square">
            <a:spAutoFit/>
          </a:bodyPr>
          <a:lstStyle/>
          <a:p>
            <a:pPr algn="ctr"/>
            <a:r>
              <a:rPr sz="900" b="1" i="0">
                <a:solidFill>
                  <a:srgbClr val="17202A"/>
                </a:solidFill>
                <a:latin typeface="Calibri" panose="020F0502020204030204"/>
              </a:rPr>
              <a:t>Pastoral</a:t>
            </a:r>
            <a:endParaRPr sz="900" b="1" i="0">
              <a:solidFill>
                <a:srgbClr val="17202A"/>
              </a:solidFill>
              <a:latin typeface="Calibri" panose="020F0502020204030204"/>
            </a:endParaRPr>
          </a:p>
        </p:txBody>
      </p:sp>
      <p:sp>
        <p:nvSpPr>
          <p:cNvPr id="41" name="Rectangle 40"/>
          <p:cNvSpPr/>
          <p:nvPr/>
        </p:nvSpPr>
        <p:spPr>
          <a:xfrm>
            <a:off x="3767327" y="4661611"/>
            <a:ext cx="658368" cy="124541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67327" y="4460443"/>
            <a:ext cx="658368" cy="201168"/>
          </a:xfrm>
          <a:prstGeom prst="rect">
            <a:avLst/>
          </a:prstGeom>
          <a:noFill/>
        </p:spPr>
        <p:txBody>
          <a:bodyPr wrap="square">
            <a:spAutoFit/>
          </a:bodyPr>
          <a:lstStyle/>
          <a:p>
            <a:pPr algn="ctr"/>
            <a:r>
              <a:rPr sz="900" b="1" i="0">
                <a:solidFill>
                  <a:srgbClr val="C0392B"/>
                </a:solidFill>
                <a:latin typeface="Calibri" panose="020F0502020204030204"/>
              </a:rPr>
              <a:t>27%</a:t>
            </a:r>
            <a:endParaRPr sz="900" b="1" i="0">
              <a:solidFill>
                <a:srgbClr val="C0392B"/>
              </a:solidFill>
              <a:latin typeface="Calibri" panose="020F0502020204030204"/>
            </a:endParaRPr>
          </a:p>
        </p:txBody>
      </p:sp>
      <p:sp>
        <p:nvSpPr>
          <p:cNvPr id="43" name="Rectangle 42"/>
          <p:cNvSpPr/>
          <p:nvPr/>
        </p:nvSpPr>
        <p:spPr>
          <a:xfrm>
            <a:off x="4590287" y="5210515"/>
            <a:ext cx="658368" cy="696508"/>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90287" y="5009347"/>
            <a:ext cx="658368" cy="201168"/>
          </a:xfrm>
          <a:prstGeom prst="rect">
            <a:avLst/>
          </a:prstGeom>
          <a:noFill/>
        </p:spPr>
        <p:txBody>
          <a:bodyPr wrap="square">
            <a:spAutoFit/>
          </a:bodyPr>
          <a:lstStyle/>
          <a:p>
            <a:pPr algn="ctr"/>
            <a:r>
              <a:rPr sz="900" b="1" i="0">
                <a:solidFill>
                  <a:srgbClr val="1E8B4C"/>
                </a:solidFill>
                <a:latin typeface="Calibri" panose="020F0502020204030204"/>
              </a:rPr>
              <a:t>15%</a:t>
            </a:r>
            <a:endParaRPr sz="900" b="1" i="0">
              <a:solidFill>
                <a:srgbClr val="1E8B4C"/>
              </a:solidFill>
              <a:latin typeface="Calibri" panose="020F0502020204030204"/>
            </a:endParaRPr>
          </a:p>
        </p:txBody>
      </p:sp>
      <p:sp>
        <p:nvSpPr>
          <p:cNvPr id="45" name="TextBox 44"/>
          <p:cNvSpPr txBox="1"/>
          <p:nvPr/>
        </p:nvSpPr>
        <p:spPr>
          <a:xfrm>
            <a:off x="3721607" y="5943600"/>
            <a:ext cx="1572768" cy="256032"/>
          </a:xfrm>
          <a:prstGeom prst="rect">
            <a:avLst/>
          </a:prstGeom>
          <a:noFill/>
        </p:spPr>
        <p:txBody>
          <a:bodyPr wrap="square">
            <a:spAutoFit/>
          </a:bodyPr>
          <a:lstStyle/>
          <a:p>
            <a:pPr algn="ctr"/>
            <a:r>
              <a:rPr sz="900" b="1" i="0">
                <a:solidFill>
                  <a:srgbClr val="17202A"/>
                </a:solidFill>
                <a:latin typeface="Calibri" panose="020F0502020204030204"/>
              </a:rPr>
              <a:t>Rural Remote</a:t>
            </a:r>
            <a:endParaRPr sz="900" b="1" i="0">
              <a:solidFill>
                <a:srgbClr val="17202A"/>
              </a:solidFill>
              <a:latin typeface="Calibri" panose="020F0502020204030204"/>
            </a:endParaRPr>
          </a:p>
        </p:txBody>
      </p:sp>
      <p:sp>
        <p:nvSpPr>
          <p:cNvPr id="46" name="Rectangle 45"/>
          <p:cNvSpPr/>
          <p:nvPr/>
        </p:nvSpPr>
        <p:spPr>
          <a:xfrm>
            <a:off x="5797296" y="5233578"/>
            <a:ext cx="658368" cy="67344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97296" y="5032410"/>
            <a:ext cx="658368" cy="201168"/>
          </a:xfrm>
          <a:prstGeom prst="rect">
            <a:avLst/>
          </a:prstGeom>
          <a:noFill/>
        </p:spPr>
        <p:txBody>
          <a:bodyPr wrap="square">
            <a:spAutoFit/>
          </a:bodyPr>
          <a:lstStyle/>
          <a:p>
            <a:pPr algn="ctr"/>
            <a:r>
              <a:rPr sz="900" b="1" i="0">
                <a:solidFill>
                  <a:srgbClr val="C0392B"/>
                </a:solidFill>
                <a:latin typeface="Calibri" panose="020F0502020204030204"/>
              </a:rPr>
              <a:t>15%</a:t>
            </a:r>
            <a:endParaRPr sz="900" b="1" i="0">
              <a:solidFill>
                <a:srgbClr val="C0392B"/>
              </a:solidFill>
              <a:latin typeface="Calibri" panose="020F0502020204030204"/>
            </a:endParaRPr>
          </a:p>
        </p:txBody>
      </p:sp>
      <p:sp>
        <p:nvSpPr>
          <p:cNvPr id="48" name="Rectangle 47"/>
          <p:cNvSpPr/>
          <p:nvPr/>
        </p:nvSpPr>
        <p:spPr>
          <a:xfrm>
            <a:off x="6620255" y="5528787"/>
            <a:ext cx="658368" cy="378236"/>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20255" y="5327619"/>
            <a:ext cx="658368" cy="201168"/>
          </a:xfrm>
          <a:prstGeom prst="rect">
            <a:avLst/>
          </a:prstGeom>
          <a:noFill/>
        </p:spPr>
        <p:txBody>
          <a:bodyPr wrap="square">
            <a:spAutoFit/>
          </a:bodyPr>
          <a:lstStyle/>
          <a:p>
            <a:pPr algn="ctr"/>
            <a:r>
              <a:rPr sz="900" b="1" i="0">
                <a:solidFill>
                  <a:srgbClr val="1E8B4C"/>
                </a:solidFill>
                <a:latin typeface="Calibri" panose="020F0502020204030204"/>
              </a:rPr>
              <a:t>8%</a:t>
            </a:r>
            <a:endParaRPr sz="900" b="1" i="0">
              <a:solidFill>
                <a:srgbClr val="1E8B4C"/>
              </a:solidFill>
              <a:latin typeface="Calibri" panose="020F0502020204030204"/>
            </a:endParaRPr>
          </a:p>
        </p:txBody>
      </p:sp>
      <p:sp>
        <p:nvSpPr>
          <p:cNvPr id="50" name="TextBox 49"/>
          <p:cNvSpPr txBox="1"/>
          <p:nvPr/>
        </p:nvSpPr>
        <p:spPr>
          <a:xfrm>
            <a:off x="5751576" y="5943600"/>
            <a:ext cx="1572768" cy="256032"/>
          </a:xfrm>
          <a:prstGeom prst="rect">
            <a:avLst/>
          </a:prstGeom>
          <a:noFill/>
        </p:spPr>
        <p:txBody>
          <a:bodyPr wrap="square">
            <a:spAutoFit/>
          </a:bodyPr>
          <a:lstStyle/>
          <a:p>
            <a:pPr algn="ctr"/>
            <a:r>
              <a:rPr sz="900" b="1" i="0">
                <a:solidFill>
                  <a:srgbClr val="17202A"/>
                </a:solidFill>
                <a:latin typeface="Calibri" panose="020F0502020204030204"/>
              </a:rPr>
              <a:t>Rural Road</a:t>
            </a:r>
            <a:endParaRPr sz="900" b="1" i="0">
              <a:solidFill>
                <a:srgbClr val="17202A"/>
              </a:solidFill>
              <a:latin typeface="Calibri" panose="020F0502020204030204"/>
            </a:endParaRPr>
          </a:p>
        </p:txBody>
      </p:sp>
      <p:sp>
        <p:nvSpPr>
          <p:cNvPr id="51" name="Rectangle 50"/>
          <p:cNvSpPr/>
          <p:nvPr/>
        </p:nvSpPr>
        <p:spPr>
          <a:xfrm>
            <a:off x="7827263" y="5579526"/>
            <a:ext cx="658368" cy="327497"/>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27263" y="5378358"/>
            <a:ext cx="658368" cy="201168"/>
          </a:xfrm>
          <a:prstGeom prst="rect">
            <a:avLst/>
          </a:prstGeom>
          <a:noFill/>
        </p:spPr>
        <p:txBody>
          <a:bodyPr wrap="square">
            <a:spAutoFit/>
          </a:bodyPr>
          <a:lstStyle/>
          <a:p>
            <a:pPr algn="ctr"/>
            <a:r>
              <a:rPr sz="900" b="1" i="0">
                <a:solidFill>
                  <a:srgbClr val="C0392B"/>
                </a:solidFill>
                <a:latin typeface="Calibri" panose="020F0502020204030204"/>
              </a:rPr>
              <a:t>7%</a:t>
            </a:r>
            <a:endParaRPr sz="900" b="1" i="0">
              <a:solidFill>
                <a:srgbClr val="C0392B"/>
              </a:solidFill>
              <a:latin typeface="Calibri" panose="020F0502020204030204"/>
            </a:endParaRPr>
          </a:p>
        </p:txBody>
      </p:sp>
      <p:sp>
        <p:nvSpPr>
          <p:cNvPr id="53" name="Rectangle 52"/>
          <p:cNvSpPr/>
          <p:nvPr/>
        </p:nvSpPr>
        <p:spPr>
          <a:xfrm>
            <a:off x="8650224" y="5722518"/>
            <a:ext cx="658368" cy="184505"/>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50224" y="5521350"/>
            <a:ext cx="658368" cy="201168"/>
          </a:xfrm>
          <a:prstGeom prst="rect">
            <a:avLst/>
          </a:prstGeom>
          <a:noFill/>
        </p:spPr>
        <p:txBody>
          <a:bodyPr wrap="square">
            <a:spAutoFit/>
          </a:bodyPr>
          <a:lstStyle/>
          <a:p>
            <a:pPr algn="ctr"/>
            <a:r>
              <a:rPr sz="900" b="1" i="0">
                <a:solidFill>
                  <a:srgbClr val="1E8B4C"/>
                </a:solidFill>
                <a:latin typeface="Calibri" panose="020F0502020204030204"/>
              </a:rPr>
              <a:t>4%</a:t>
            </a:r>
            <a:endParaRPr sz="900" b="1" i="0">
              <a:solidFill>
                <a:srgbClr val="1E8B4C"/>
              </a:solidFill>
              <a:latin typeface="Calibri" panose="020F0502020204030204"/>
            </a:endParaRPr>
          </a:p>
        </p:txBody>
      </p:sp>
      <p:sp>
        <p:nvSpPr>
          <p:cNvPr id="55" name="TextBox 54"/>
          <p:cNvSpPr txBox="1"/>
          <p:nvPr/>
        </p:nvSpPr>
        <p:spPr>
          <a:xfrm>
            <a:off x="7781543" y="5943600"/>
            <a:ext cx="1572768" cy="256032"/>
          </a:xfrm>
          <a:prstGeom prst="rect">
            <a:avLst/>
          </a:prstGeom>
          <a:noFill/>
        </p:spPr>
        <p:txBody>
          <a:bodyPr wrap="square">
            <a:spAutoFit/>
          </a:bodyPr>
          <a:lstStyle/>
          <a:p>
            <a:pPr algn="ctr"/>
            <a:r>
              <a:rPr sz="900" b="1" i="0">
                <a:solidFill>
                  <a:srgbClr val="17202A"/>
                </a:solidFill>
                <a:latin typeface="Calibri" panose="020F0502020204030204"/>
              </a:rPr>
              <a:t>Urban</a:t>
            </a:r>
            <a:endParaRPr sz="900" b="1" i="0">
              <a:solidFill>
                <a:srgbClr val="17202A"/>
              </a:solidFill>
              <a:latin typeface="Calibri" panose="020F0502020204030204"/>
            </a:endParaRPr>
          </a:p>
        </p:txBody>
      </p:sp>
      <p:sp>
        <p:nvSpPr>
          <p:cNvPr id="56" name="Rectangle 55"/>
          <p:cNvSpPr/>
          <p:nvPr/>
        </p:nvSpPr>
        <p:spPr>
          <a:xfrm>
            <a:off x="1691639" y="5907024"/>
            <a:ext cx="8686800" cy="27432"/>
          </a:xfrm>
          <a:prstGeom prst="rect">
            <a:avLst/>
          </a:prstGeom>
          <a:solidFill>
            <a:srgbClr val="17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89738" y="6206490"/>
            <a:ext cx="11786616" cy="256032"/>
          </a:xfrm>
          <a:prstGeom prst="rect">
            <a:avLst/>
          </a:prstGeom>
          <a:noFill/>
        </p:spPr>
        <p:txBody>
          <a:bodyPr wrap="square">
            <a:spAutoFit/>
          </a:bodyPr>
          <a:lstStyle/>
          <a:p>
            <a:pPr algn="l"/>
            <a:r>
              <a:rPr sz="800" b="0" i="1">
                <a:solidFill>
                  <a:srgbClr val="717D7E"/>
                </a:solidFill>
                <a:latin typeface="Calibri" panose="020F0502020204030204"/>
              </a:rPr>
              <a:t>Caveat: impact projection assumes health officers act on every Critical alert within the lead-time window. Real-world SDR will depend on DHIS2 data quality and operational follow-through.</a:t>
            </a:r>
            <a:endParaRPr sz="800" b="0" i="1">
              <a:solidFill>
                <a:srgbClr val="717D7E"/>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4181</Words>
  <Application>WPS Presentation</Application>
  <PresentationFormat>On-screen Show (4:3)</PresentationFormat>
  <Paragraphs>209</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Rupert Murdok</cp:lastModifiedBy>
  <cp:revision>14</cp:revision>
  <dcterms:created xsi:type="dcterms:W3CDTF">2013-01-27T09:14:00Z</dcterms:created>
  <dcterms:modified xsi:type="dcterms:W3CDTF">2026-05-14T19:10:18Z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3148E1D4B07948708C7F960C1BD5242E_12</vt:lpwstr>
  </property>
</Properties>
</file>